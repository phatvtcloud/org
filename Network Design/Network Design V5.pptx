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34" r:id="rId2"/>
  </p:sldMasterIdLst>
  <p:notesMasterIdLst>
    <p:notesMasterId r:id="rId16"/>
  </p:notesMasterIdLst>
  <p:sldIdLst>
    <p:sldId id="604" r:id="rId3"/>
    <p:sldId id="696" r:id="rId4"/>
    <p:sldId id="704" r:id="rId5"/>
    <p:sldId id="695" r:id="rId6"/>
    <p:sldId id="697" r:id="rId7"/>
    <p:sldId id="698" r:id="rId8"/>
    <p:sldId id="700" r:id="rId9"/>
    <p:sldId id="699" r:id="rId10"/>
    <p:sldId id="701" r:id="rId11"/>
    <p:sldId id="702" r:id="rId12"/>
    <p:sldId id="690" r:id="rId13"/>
    <p:sldId id="705" r:id="rId14"/>
    <p:sldId id="70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FFFFCC"/>
    <a:srgbClr val="00447C"/>
    <a:srgbClr val="D8F3FC"/>
    <a:srgbClr val="0B76A0"/>
    <a:srgbClr val="FFFFFF"/>
    <a:srgbClr val="ABD9FF"/>
    <a:srgbClr val="FFFF00"/>
    <a:srgbClr val="F4FBFE"/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7" autoAdjust="0"/>
    <p:restoredTop sz="95738" autoAdjust="0"/>
  </p:normalViewPr>
  <p:slideViewPr>
    <p:cSldViewPr snapToGrid="0">
      <p:cViewPr>
        <p:scale>
          <a:sx n="50" d="100"/>
          <a:sy n="50" d="100"/>
        </p:scale>
        <p:origin x="139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masangroup-my.sharepoint.com/personal/hungnx_msc_masangroup_com/Documents/01.%20Masan/01.%20MASAN/04.%20SUPRA/2026/Supra%20PL/Ver%20New/Supra%20PL%205%20Years%20ver%20Fin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315292818048255E-2"/>
          <c:y val="5.364314521625637E-2"/>
          <c:w val="0.95750346359577143"/>
          <c:h val="0.789946191739877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'[Supra PL 5 Years ver Final.xlsx]PPT'!$C$61</c:f>
              <c:strCache>
                <c:ptCount val="1"/>
                <c:pt idx="0">
                  <c:v>GSV</c:v>
                </c:pt>
              </c:strCache>
            </c:strRef>
          </c:tx>
          <c:spPr>
            <a:solidFill>
              <a:srgbClr val="15608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4">
                        <a:lumMod val="20000"/>
                        <a:lumOff val="8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'[Supra PL 5 Years ver Final.xlsx]PPT'!$F$60:$J$60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cat>
          <c:val>
            <c:numRef>
              <c:f>'[Supra PL 5 Years ver Final.xlsx]PPT'!$F$61:$J$61</c:f>
              <c:numCache>
                <c:formatCode>_(* #,##0_);_(* \(#,##0\);_(* "-"??_);_(@_)</c:formatCode>
                <c:ptCount val="5"/>
                <c:pt idx="0">
                  <c:v>93694.317703512759</c:v>
                </c:pt>
                <c:pt idx="1">
                  <c:v>113373.68008330504</c:v>
                </c:pt>
                <c:pt idx="2">
                  <c:v>135890.7128831647</c:v>
                </c:pt>
                <c:pt idx="3">
                  <c:v>160209.95838488522</c:v>
                </c:pt>
                <c:pt idx="4">
                  <c:v>187553.65525401253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CD-433E-911B-1097233E1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60"/>
        <c:axId val="853757151"/>
        <c:axId val="853757631"/>
      </c:barChart>
      <c:lineChart>
        <c:grouping val="standard"/>
        <c:varyColors val="0"/>
        <c:ser>
          <c:idx val="1"/>
          <c:order val="1"/>
          <c:tx>
            <c:strRef>
              <c:f>'[Supra PL 5 Years ver Final.xlsx]PPT'!$C$62</c:f>
              <c:strCache>
                <c:ptCount val="1"/>
                <c:pt idx="0">
                  <c:v>%</c:v>
                </c:pt>
              </c:strCache>
            </c:strRef>
          </c:tx>
          <c:spPr>
            <a:ln w="28575" cap="rnd">
              <a:solidFill>
                <a:schemeClr val="accent4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lt1"/>
              </a:solidFill>
              <a:ln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'[Supra PL 5 Years ver Final.xlsx]PPT'!$F$60:$J$60</c:f>
              <c:numCache>
                <c:formatCode>General</c:formatCod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numCache>
            </c:numRef>
          </c:cat>
          <c:val>
            <c:numRef>
              <c:f>'[Supra PL 5 Years ver Final.xlsx]PPT'!$F$62:$J$62</c:f>
              <c:numCache>
                <c:formatCode>0%</c:formatCode>
                <c:ptCount val="5"/>
                <c:pt idx="0">
                  <c:v>0.17496824388042387</c:v>
                </c:pt>
                <c:pt idx="1">
                  <c:v>0.21003794960187294</c:v>
                </c:pt>
                <c:pt idx="2">
                  <c:v>0.19860899622658912</c:v>
                </c:pt>
                <c:pt idx="3">
                  <c:v>0.17896179205881113</c:v>
                </c:pt>
                <c:pt idx="4">
                  <c:v>0.17067414001467585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CCD-433E-911B-1097233E19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3744191"/>
        <c:axId val="853744671"/>
      </c:lineChart>
      <c:catAx>
        <c:axId val="853757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3757631"/>
        <c:crosses val="autoZero"/>
        <c:auto val="1"/>
        <c:lblAlgn val="ctr"/>
        <c:lblOffset val="100"/>
        <c:noMultiLvlLbl val="0"/>
      </c:catAx>
      <c:valAx>
        <c:axId val="853757631"/>
        <c:scaling>
          <c:orientation val="minMax"/>
        </c:scaling>
        <c:delete val="0"/>
        <c:axPos val="l"/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3757151"/>
        <c:crosses val="autoZero"/>
        <c:crossBetween val="between"/>
      </c:valAx>
      <c:valAx>
        <c:axId val="853744671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3744191"/>
        <c:crosses val="max"/>
        <c:crossBetween val="between"/>
      </c:valAx>
      <c:catAx>
        <c:axId val="8537441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5374467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rgbClr val="00206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DA5D7-3937-4D56-B71B-CE0BC52CDA57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6ABA80-7502-4391-8313-D66FA1CD21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1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B932-48FD-499C-3E0A-A09D78CD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3CCEF-E5F2-13AC-A23E-6B4471E7E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96DC2-7A3B-451E-FE0D-838B8E0B0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79A94-4DE9-B6AA-2975-93542CDE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ABA80-7502-4391-8313-D66FA1CD21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75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B932-48FD-499C-3E0A-A09D78CD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3CCEF-E5F2-13AC-A23E-6B4471E7E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96DC2-7A3B-451E-FE0D-838B8E0B0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79A94-4DE9-B6AA-2975-93542CDE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ABA80-7502-4391-8313-D66FA1CD210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28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B932-48FD-499C-3E0A-A09D78CD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3CCEF-E5F2-13AC-A23E-6B4471E7E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96DC2-7A3B-451E-FE0D-838B8E0B0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79A94-4DE9-B6AA-2975-93542CDE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ABA80-7502-4391-8313-D66FA1CD210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81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B932-48FD-499C-3E0A-A09D78CD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3CCEF-E5F2-13AC-A23E-6B4471E7E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96DC2-7A3B-451E-FE0D-838B8E0B0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79A94-4DE9-B6AA-2975-93542CDE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ABA80-7502-4391-8313-D66FA1CD210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48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B932-48FD-499C-3E0A-A09D78CD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3CCEF-E5F2-13AC-A23E-6B4471E7E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96DC2-7A3B-451E-FE0D-838B8E0B0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79A94-4DE9-B6AA-2975-93542CDE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ABA80-7502-4391-8313-D66FA1CD210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62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B932-48FD-499C-3E0A-A09D78CD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3CCEF-E5F2-13AC-A23E-6B4471E7E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96DC2-7A3B-451E-FE0D-838B8E0B0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79A94-4DE9-B6AA-2975-93542CDE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ABA80-7502-4391-8313-D66FA1CD210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92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B932-48FD-499C-3E0A-A09D78CD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3CCEF-E5F2-13AC-A23E-6B4471E7E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96DC2-7A3B-451E-FE0D-838B8E0B0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79A94-4DE9-B6AA-2975-93542CDE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ABA80-7502-4391-8313-D66FA1CD210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90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B932-48FD-499C-3E0A-A09D78CD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3CCEF-E5F2-13AC-A23E-6B4471E7E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96DC2-7A3B-451E-FE0D-838B8E0B0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79A94-4DE9-B6AA-2975-93542CDE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ABA80-7502-4391-8313-D66FA1CD210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1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B932-48FD-499C-3E0A-A09D78CD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3CCEF-E5F2-13AC-A23E-6B4471E7E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96DC2-7A3B-451E-FE0D-838B8E0B0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79A94-4DE9-B6AA-2975-93542CDE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ABA80-7502-4391-8313-D66FA1CD210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982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B932-48FD-499C-3E0A-A09D78CD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3CCEF-E5F2-13AC-A23E-6B4471E7E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96DC2-7A3B-451E-FE0D-838B8E0B0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79A94-4DE9-B6AA-2975-93542CDE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6ABA80-7502-4391-8313-D66FA1CD210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135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FB49C-E793-DD46-ED22-38AE802DC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ACEFD-6BC2-B20B-2EF6-516BA5AB1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5873F-D85F-FD52-FED9-4EAEAB32B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89E6-AA79-41C3-A6D9-99009AEA0965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F4292-A725-BF3D-6AB7-E998C448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8115F-7BFE-3A40-47EF-7356B4547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2A75-785E-496C-A688-B27C238B4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781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95A5-04B3-1BB2-E989-6D1872DD1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CF528-BD95-6BD1-22A9-B3C1241DE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C1ECF-BF4C-EFE4-AD44-D7ACD7CF0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89E6-AA79-41C3-A6D9-99009AEA0965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D3A82-354D-3892-22E0-89F4C256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DA0D1-CF41-091D-03DB-49EB5C900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2A75-785E-496C-A688-B27C238B4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53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B9B2B-61D7-4F5D-EF64-DE3D04F74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56CB-1462-7395-6F99-9798F46F6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82FFA-094A-49C3-D1F1-844A6547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89E6-AA79-41C3-A6D9-99009AEA0965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7193A-8BED-D1AE-6BF4-9605F75FC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9DF9C-DBBA-3A3F-5617-4F2AC994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2A75-785E-496C-A688-B27C238B4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58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F88BB-31D0-9F59-BE5B-4A90D9F86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35D2A-472B-CD40-B0E1-D46C5231D7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F6DE6-63C2-5739-5395-0A5952280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D2D3E-9CEA-EEA8-BC06-F7BF3BDA4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89E6-AA79-41C3-A6D9-99009AEA0965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64140-5A7C-83F0-A336-BD039237B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03ECE-BF54-DA39-B6B5-57F39189F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2A75-785E-496C-A688-B27C238B4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05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3BBD-ECF2-2A85-4D22-6435F7F64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6DC69-AB4E-8E70-FB14-62C10FCA6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5D2DB-44C0-5701-55D5-F7CA46770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790159-7B28-6A66-66B3-68EDB68A9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4060D-6B02-7305-2FCC-F1151E5E3B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690891-906B-D435-A683-D15D582EE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89E6-AA79-41C3-A6D9-99009AEA0965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9D63C3-4BFD-58CD-8D60-DE9FADF18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F34376-495D-02F5-7CF0-C7D3DB834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2A75-785E-496C-A688-B27C238B4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34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FF3021-28F1-C355-9A81-282F51064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89E6-AA79-41C3-A6D9-99009AEA0965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76075-1A76-5DF4-601B-CC7BF483E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5C872-A150-F817-67E4-26370B35D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2A75-785E-496C-A688-B27C238B4F7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D:\NEKODESIGN\CUSTOMERS\AQUUS\MASAN\Pics\icon_xanh.pngicon_xanh">
            <a:extLst>
              <a:ext uri="{FF2B5EF4-FFF2-40B4-BE49-F238E27FC236}">
                <a16:creationId xmlns:a16="http://schemas.microsoft.com/office/drawing/2014/main" id="{79436A0F-75F0-5372-9BF5-71C8BC611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311785" y="480060"/>
            <a:ext cx="254635" cy="254635"/>
          </a:xfrm>
          <a:prstGeom prst="rect">
            <a:avLst/>
          </a:prstGeom>
        </p:spPr>
      </p:pic>
      <p:pic>
        <p:nvPicPr>
          <p:cNvPr id="7" name="Picture 6" descr="A silver logo with blue text&#10;&#10;AI-generated content may be incorrect.">
            <a:extLst>
              <a:ext uri="{FF2B5EF4-FFF2-40B4-BE49-F238E27FC236}">
                <a16:creationId xmlns:a16="http://schemas.microsoft.com/office/drawing/2014/main" id="{ADBD9A61-5580-ACBA-ECA1-B701FC04CB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074" y="208914"/>
            <a:ext cx="796926" cy="79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209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_BLANK_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NEKODESIGN\CUSTOMERS\AQUUS\MASAN\Pics\Logo_Masan_Trang.pngLogo_Masan_Tra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05485" y="6387465"/>
            <a:ext cx="796925" cy="276860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ctrTitle" hasCustomPrompt="1"/>
          </p:nvPr>
        </p:nvSpPr>
        <p:spPr>
          <a:xfrm>
            <a:off x="680720" y="375285"/>
            <a:ext cx="10779125" cy="777875"/>
          </a:xfrm>
        </p:spPr>
        <p:txBody>
          <a:bodyPr anchor="t" anchorCtr="0"/>
          <a:lstStyle>
            <a:lvl1pPr algn="l">
              <a:defRPr sz="2800">
                <a:solidFill>
                  <a:schemeClr val="accent1"/>
                </a:solidFill>
                <a:latin typeface="Montserrat ExtraBold" charset="0"/>
                <a:cs typeface="Montserrat ExtraBold" charset="0"/>
              </a:defRPr>
            </a:lvl1pPr>
          </a:lstStyle>
          <a:p>
            <a:r>
              <a:rPr lang="en-US"/>
              <a:t>Your Title is Here</a:t>
            </a:r>
          </a:p>
        </p:txBody>
      </p:sp>
      <p:pic>
        <p:nvPicPr>
          <p:cNvPr id="6" name="Picture 5" descr="D:\NEKODESIGN\CUSTOMERS\AQUUS\MASAN\Pics\icon_xanh.pngicon_xanh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311785" y="480060"/>
            <a:ext cx="254635" cy="25463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625580" y="6487795"/>
            <a:ext cx="566420" cy="294005"/>
          </a:xfrm>
        </p:spPr>
        <p:txBody>
          <a:bodyPr/>
          <a:lstStyle>
            <a:lvl1pPr algn="l">
              <a:defRPr sz="800" b="1">
                <a:solidFill>
                  <a:srgbClr val="223763"/>
                </a:solidFill>
                <a:latin typeface="Montserrat" charset="0"/>
                <a:cs typeface="Montserrat" charset="0"/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57"/>
          </p:nvPr>
        </p:nvSpPr>
        <p:spPr>
          <a:xfrm>
            <a:off x="680720" y="1244600"/>
            <a:ext cx="10779760" cy="5160010"/>
          </a:xfrm>
        </p:spPr>
        <p:txBody>
          <a:bodyPr/>
          <a:lstStyle>
            <a:lvl1pPr>
              <a:buClr>
                <a:srgbClr val="223763"/>
              </a:buClr>
              <a:buSzPct val="120000"/>
              <a:buFont typeface="Wingdings" panose="05000000000000000000" charset="0"/>
              <a:buChar char="§"/>
              <a:defRPr sz="1200">
                <a:latin typeface="Montserrat Medium" charset="0"/>
                <a:cs typeface="Montserrat Medium" charset="0"/>
              </a:defRPr>
            </a:lvl1pPr>
            <a:lvl2pPr marL="464185" indent="-229870">
              <a:buClr>
                <a:srgbClr val="BFBFBF"/>
              </a:buClr>
              <a:buSzPct val="120000"/>
              <a:buFont typeface="Wingdings" panose="05000000000000000000" charset="0"/>
              <a:buChar char="§"/>
              <a:defRPr sz="1200">
                <a:latin typeface="Montserrat Medium" charset="0"/>
                <a:cs typeface="Montserrat Medium" charset="0"/>
              </a:defRPr>
            </a:lvl2pPr>
            <a:lvl3pPr marL="691515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3pPr>
            <a:lvl4pPr marL="909955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4pPr>
            <a:lvl5pPr marL="1136650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A silver logo with blue text&#10;&#10;AI-generated content may be incorrect.">
            <a:extLst>
              <a:ext uri="{FF2B5EF4-FFF2-40B4-BE49-F238E27FC236}">
                <a16:creationId xmlns:a16="http://schemas.microsoft.com/office/drawing/2014/main" id="{98E7AA9A-F075-CC60-CA42-8C50C5C196A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074" y="208914"/>
            <a:ext cx="796926" cy="79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9983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8A843-6D63-C01B-143C-D769DF17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81208-B5DF-0D71-EEBF-353F18CE3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92AA3-1843-6851-C0D1-657B60C47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9A635-580C-5BA7-7DCA-759D648BD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89E6-AA79-41C3-A6D9-99009AEA0965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2D545-CE21-8846-B6D8-DBCCF3658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1549D-AEDA-5702-39AD-213097D5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2A75-785E-496C-A688-B27C238B4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7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86D25-9FFA-4C86-5B0C-1EC7CA431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9AFEA-0903-06F9-D428-59FBE1CA4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622D59-202D-B0A8-119A-B40F849C5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64C79-8D2B-4E15-C2F9-FC2041DB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89E6-AA79-41C3-A6D9-99009AEA0965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95496-7341-BA21-4CD0-28E45BDFE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5F433-1AC7-5633-FC0D-F17DA328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2A75-785E-496C-A688-B27C238B4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02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3E811-380E-BA7D-F56A-2418C796A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C19C5-04A2-C262-2FD1-3AE933A0D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DCBB2-D075-702B-AED8-85D19337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89E6-AA79-41C3-A6D9-99009AEA0965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4ED1D-15EA-01E5-1E6C-86384F75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C81E1-8942-4D44-70A1-FFC3C43DC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2A75-785E-496C-A688-B27C238B4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06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A62C0-4425-4EC8-0C53-25E412E6B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0056E-BCC9-A2CF-4FEF-050F6C7A5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00740-548D-66B0-C885-1ED325E9B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B89E6-AA79-41C3-A6D9-99009AEA0965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27669-F77A-2D2B-E56E-79C3654C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3663A-A0F7-A32C-6B36-C5FB44D1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72A75-785E-496C-A688-B27C238B4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0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BLANK_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NEKODESIGN\CUSTOMERS\AQUUS\MASAN\Pics\Logo_Masan_Trang.pngLogo_Masan_Tra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05485" y="6387465"/>
            <a:ext cx="796925" cy="276860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ctrTitle" hasCustomPrompt="1"/>
          </p:nvPr>
        </p:nvSpPr>
        <p:spPr>
          <a:xfrm>
            <a:off x="680720" y="375285"/>
            <a:ext cx="10779125" cy="777875"/>
          </a:xfrm>
        </p:spPr>
        <p:txBody>
          <a:bodyPr anchor="t" anchorCtr="0"/>
          <a:lstStyle>
            <a:lvl1pPr algn="l">
              <a:defRPr sz="2800">
                <a:solidFill>
                  <a:schemeClr val="accent1"/>
                </a:solidFill>
                <a:latin typeface="Montserrat ExtraBold" charset="0"/>
                <a:cs typeface="Montserrat ExtraBold" charset="0"/>
              </a:defRPr>
            </a:lvl1pPr>
          </a:lstStyle>
          <a:p>
            <a:r>
              <a:rPr lang="en-US"/>
              <a:t>Your Title is Here</a:t>
            </a:r>
          </a:p>
        </p:txBody>
      </p:sp>
      <p:pic>
        <p:nvPicPr>
          <p:cNvPr id="6" name="Picture 5" descr="D:\NEKODESIGN\CUSTOMERS\AQUUS\MASAN\Pics\icon_xanh.pngicon_xanh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311785" y="480060"/>
            <a:ext cx="254635" cy="25463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625580" y="6487795"/>
            <a:ext cx="566420" cy="294005"/>
          </a:xfrm>
        </p:spPr>
        <p:txBody>
          <a:bodyPr/>
          <a:lstStyle>
            <a:lvl1pPr algn="l">
              <a:defRPr sz="800" b="1">
                <a:solidFill>
                  <a:srgbClr val="223763"/>
                </a:solidFill>
                <a:latin typeface="Montserrat" charset="0"/>
                <a:cs typeface="Montserrat" charset="0"/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57"/>
          </p:nvPr>
        </p:nvSpPr>
        <p:spPr>
          <a:xfrm>
            <a:off x="680720" y="1244600"/>
            <a:ext cx="10779760" cy="5160010"/>
          </a:xfrm>
        </p:spPr>
        <p:txBody>
          <a:bodyPr/>
          <a:lstStyle>
            <a:lvl1pPr>
              <a:buClr>
                <a:srgbClr val="223763"/>
              </a:buClr>
              <a:buSzPct val="120000"/>
              <a:buFont typeface="Wingdings" panose="05000000000000000000" charset="0"/>
              <a:buChar char="§"/>
              <a:defRPr sz="1200">
                <a:latin typeface="Montserrat Medium" charset="0"/>
                <a:cs typeface="Montserrat Medium" charset="0"/>
              </a:defRPr>
            </a:lvl1pPr>
            <a:lvl2pPr marL="464185" indent="-229870">
              <a:buClr>
                <a:srgbClr val="BFBFBF"/>
              </a:buClr>
              <a:buSzPct val="120000"/>
              <a:buFont typeface="Wingdings" panose="05000000000000000000" charset="0"/>
              <a:buChar char="§"/>
              <a:defRPr sz="1200">
                <a:latin typeface="Montserrat Medium" charset="0"/>
                <a:cs typeface="Montserrat Medium" charset="0"/>
              </a:defRPr>
            </a:lvl2pPr>
            <a:lvl3pPr marL="691515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3pPr>
            <a:lvl4pPr marL="909955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4pPr>
            <a:lvl5pPr marL="1136650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A silver logo with blue text&#10;&#10;AI-generated content may be incorrect.">
            <a:extLst>
              <a:ext uri="{FF2B5EF4-FFF2-40B4-BE49-F238E27FC236}">
                <a16:creationId xmlns:a16="http://schemas.microsoft.com/office/drawing/2014/main" id="{577BC0B1-C9BE-7F43-32DF-4BCA67B81A0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074" y="208914"/>
            <a:ext cx="652323" cy="65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0203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ank_you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4"/>
          <p:cNvSpPr>
            <a:spLocks noGrp="1"/>
          </p:cNvSpPr>
          <p:nvPr>
            <p:ph type="ctrTitle" hasCustomPrompt="1"/>
          </p:nvPr>
        </p:nvSpPr>
        <p:spPr>
          <a:xfrm>
            <a:off x="1320165" y="3009900"/>
            <a:ext cx="9752330" cy="584835"/>
          </a:xfrm>
        </p:spPr>
        <p:txBody>
          <a:bodyPr anchor="b">
            <a:noAutofit/>
          </a:bodyPr>
          <a:lstStyle>
            <a:lvl1pPr algn="ctr">
              <a:defRPr sz="3600">
                <a:solidFill>
                  <a:srgbClr val="223763"/>
                </a:solidFill>
                <a:latin typeface="Montserrat ExtraBold" charset="0"/>
                <a:cs typeface="Montserrat ExtraBold" charset="0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705485" y="5163185"/>
            <a:ext cx="7260590" cy="487680"/>
          </a:xfrm>
          <a:noFill/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  <a:latin typeface="Montserrat SemiBold" charset="0"/>
                <a:cs typeface="Montserrat SemiBold" charset="0"/>
              </a:defRPr>
            </a:lvl1pPr>
          </a:lstStyle>
          <a:p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>
          <a:xfrm>
            <a:off x="705485" y="5650865"/>
            <a:ext cx="7260590" cy="796290"/>
          </a:xfrm>
          <a:noFill/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Montserrat SemiBold" charset="0"/>
                <a:cs typeface="Montserrat SemiBold" charset="0"/>
              </a:defRPr>
            </a:lvl1pPr>
          </a:lstStyle>
          <a:p>
            <a:endParaRPr lang="en-US"/>
          </a:p>
        </p:txBody>
      </p:sp>
      <p:pic>
        <p:nvPicPr>
          <p:cNvPr id="6" name="Picture 5" descr="D:\NEKODESIGN\CUSTOMERS\AQUUS\MASAN\Pics\Logo_Masan_Trang.pngLogo_Masan_Tra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9697242" y="5160818"/>
            <a:ext cx="1901190" cy="6604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25580" y="6487795"/>
            <a:ext cx="566420" cy="294005"/>
          </a:xfrm>
        </p:spPr>
        <p:txBody>
          <a:bodyPr/>
          <a:lstStyle>
            <a:lvl1pPr algn="l">
              <a:defRPr sz="800" b="1">
                <a:solidFill>
                  <a:schemeClr val="bg1"/>
                </a:solidFill>
                <a:latin typeface="Montserrat" charset="0"/>
                <a:cs typeface="Montserrat" charset="0"/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8FEF2D-7DEB-96A7-F48B-9E39F4993F4F}"/>
              </a:ext>
            </a:extLst>
          </p:cNvPr>
          <p:cNvGrpSpPr/>
          <p:nvPr userDrawn="1"/>
        </p:nvGrpSpPr>
        <p:grpSpPr>
          <a:xfrm>
            <a:off x="9574296" y="5776248"/>
            <a:ext cx="2334494" cy="828387"/>
            <a:chOff x="9574296" y="5776248"/>
            <a:chExt cx="2334494" cy="828387"/>
          </a:xfrm>
        </p:grpSpPr>
        <p:pic>
          <p:nvPicPr>
            <p:cNvPr id="5" name="Picture 4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A14ABBE3-2D36-685C-5941-6B19BA4A51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802"/>
            <a:stretch>
              <a:fillRect/>
            </a:stretch>
          </p:blipFill>
          <p:spPr>
            <a:xfrm>
              <a:off x="9574296" y="5776248"/>
              <a:ext cx="504741" cy="828387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AE26BA7-0B21-7593-92FC-91F08146423B}"/>
                </a:ext>
              </a:extLst>
            </p:cNvPr>
            <p:cNvSpPr txBox="1"/>
            <p:nvPr userDrawn="1"/>
          </p:nvSpPr>
          <p:spPr>
            <a:xfrm>
              <a:off x="10027438" y="5969572"/>
              <a:ext cx="188135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spc="300" baseline="0">
                  <a:solidFill>
                    <a:schemeClr val="bg1"/>
                  </a:solidFill>
                  <a:latin typeface="Goldman" pitchFamily="2" charset="0"/>
                </a:rPr>
                <a:t>THE</a:t>
              </a:r>
              <a:endParaRPr lang="en-US" sz="1100" spc="300" baseline="0">
                <a:solidFill>
                  <a:schemeClr val="bg1"/>
                </a:solidFill>
                <a:latin typeface="Goldman" pitchFamily="2" charset="0"/>
              </a:endParaRPr>
            </a:p>
            <a:p>
              <a:r>
                <a:rPr lang="en-US" sz="1800" spc="300" baseline="0">
                  <a:solidFill>
                    <a:schemeClr val="bg1"/>
                  </a:solidFill>
                  <a:latin typeface="Goldman" pitchFamily="2" charset="0"/>
                </a:rPr>
                <a:t>SUPRA</a:t>
              </a:r>
              <a:endParaRPr lang="en-US" sz="1600" spc="300" baseline="0">
                <a:solidFill>
                  <a:schemeClr val="bg1"/>
                </a:solidFill>
                <a:latin typeface="Goldman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814232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ilver logo with blue text&#10;&#10;AI-generated content may be incorrect.">
            <a:extLst>
              <a:ext uri="{FF2B5EF4-FFF2-40B4-BE49-F238E27FC236}">
                <a16:creationId xmlns:a16="http://schemas.microsoft.com/office/drawing/2014/main" id="{2CB7D178-1E67-30FE-EBD8-0DBA920C3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074" y="208914"/>
            <a:ext cx="796926" cy="79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31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_BLANK_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NEKODESIGN\CUSTOMERS\AQUUS\MASAN\Pics\Logo_Masan_Trang.pngLogo_Masan_Tra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05485" y="6387465"/>
            <a:ext cx="796925" cy="276860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ctrTitle" hasCustomPrompt="1"/>
          </p:nvPr>
        </p:nvSpPr>
        <p:spPr>
          <a:xfrm>
            <a:off x="680720" y="375285"/>
            <a:ext cx="10779125" cy="777875"/>
          </a:xfrm>
        </p:spPr>
        <p:txBody>
          <a:bodyPr anchor="t" anchorCtr="0"/>
          <a:lstStyle>
            <a:lvl1pPr algn="l">
              <a:defRPr sz="2800">
                <a:solidFill>
                  <a:schemeClr val="accent1"/>
                </a:solidFill>
                <a:latin typeface="Montserrat ExtraBold" charset="0"/>
                <a:cs typeface="Montserrat ExtraBold" charset="0"/>
              </a:defRPr>
            </a:lvl1pPr>
          </a:lstStyle>
          <a:p>
            <a:r>
              <a:rPr lang="en-US" dirty="0"/>
              <a:t>Your Title is Here</a:t>
            </a:r>
          </a:p>
        </p:txBody>
      </p:sp>
      <p:pic>
        <p:nvPicPr>
          <p:cNvPr id="6" name="Picture 5" descr="D:\NEKODESIGN\CUSTOMERS\AQUUS\MASAN\Pics\icon_xanh.pngicon_xanh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311785" y="480060"/>
            <a:ext cx="254635" cy="25463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625580" y="6487795"/>
            <a:ext cx="566420" cy="294005"/>
          </a:xfrm>
        </p:spPr>
        <p:txBody>
          <a:bodyPr/>
          <a:lstStyle>
            <a:lvl1pPr algn="l">
              <a:defRPr sz="800" b="1">
                <a:solidFill>
                  <a:srgbClr val="223763"/>
                </a:solidFill>
                <a:latin typeface="Montserrat" charset="0"/>
                <a:cs typeface="Montserrat" charset="0"/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D:\NEKODESIGN\CUSTOMERS\AQUUS\MASAN\Pics\Logo_Masan.pngLogo_Masan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810578" y="6487795"/>
            <a:ext cx="789940" cy="27686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57"/>
          </p:nvPr>
        </p:nvSpPr>
        <p:spPr>
          <a:xfrm>
            <a:off x="680720" y="1244600"/>
            <a:ext cx="10779760" cy="5160010"/>
          </a:xfrm>
        </p:spPr>
        <p:txBody>
          <a:bodyPr/>
          <a:lstStyle>
            <a:lvl1pPr>
              <a:buClr>
                <a:srgbClr val="223763"/>
              </a:buClr>
              <a:buSzPct val="120000"/>
              <a:buFont typeface="Wingdings" panose="05000000000000000000" charset="0"/>
              <a:buChar char="§"/>
              <a:defRPr sz="1200">
                <a:latin typeface="Montserrat Medium" charset="0"/>
                <a:cs typeface="Montserrat Medium" charset="0"/>
              </a:defRPr>
            </a:lvl1pPr>
            <a:lvl2pPr marL="464185" indent="-229870">
              <a:buClr>
                <a:srgbClr val="BFBFBF"/>
              </a:buClr>
              <a:buSzPct val="120000"/>
              <a:buFont typeface="Wingdings" panose="05000000000000000000" charset="0"/>
              <a:buChar char="§"/>
              <a:defRPr sz="1200">
                <a:latin typeface="Montserrat Medium" charset="0"/>
                <a:cs typeface="Montserrat Medium" charset="0"/>
              </a:defRPr>
            </a:lvl2pPr>
            <a:lvl3pPr marL="691515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3pPr>
            <a:lvl4pPr marL="909955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4pPr>
            <a:lvl5pPr marL="1136650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 descr="A silver logo with blue text&#10;&#10;AI-generated content may be incorrect.">
            <a:extLst>
              <a:ext uri="{FF2B5EF4-FFF2-40B4-BE49-F238E27FC236}">
                <a16:creationId xmlns:a16="http://schemas.microsoft.com/office/drawing/2014/main" id="{27CD68BE-0285-3EA4-AF71-C277D4371A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074" y="208914"/>
            <a:ext cx="796926" cy="79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9988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BLANK_LINE_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NEKODESIGN\CUSTOMERS\AQUUS\MASAN\Pics\Logo_Masan_Trang.pngLogo_Masan_Tra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05485" y="6387465"/>
            <a:ext cx="796925" cy="276860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ctrTitle" hasCustomPrompt="1"/>
          </p:nvPr>
        </p:nvSpPr>
        <p:spPr>
          <a:xfrm>
            <a:off x="680720" y="375285"/>
            <a:ext cx="10779125" cy="777875"/>
          </a:xfrm>
        </p:spPr>
        <p:txBody>
          <a:bodyPr anchor="t" anchorCtr="0"/>
          <a:lstStyle>
            <a:lvl1pPr algn="l">
              <a:defRPr sz="2800">
                <a:solidFill>
                  <a:schemeClr val="accent1"/>
                </a:solidFill>
                <a:latin typeface="Montserrat ExtraBold" charset="0"/>
                <a:cs typeface="Montserrat ExtraBold" charset="0"/>
              </a:defRPr>
            </a:lvl1pPr>
          </a:lstStyle>
          <a:p>
            <a:r>
              <a:rPr lang="en-US"/>
              <a:t>Your Title is Here</a:t>
            </a:r>
          </a:p>
        </p:txBody>
      </p:sp>
      <p:pic>
        <p:nvPicPr>
          <p:cNvPr id="6" name="Picture 5" descr="D:\NEKODESIGN\CUSTOMERS\AQUUS\MASAN\Pics\icon_xanh.pngicon_xanh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311785" y="480060"/>
            <a:ext cx="254635" cy="254635"/>
          </a:xfrm>
          <a:prstGeom prst="rect">
            <a:avLst/>
          </a:prstGeom>
        </p:spPr>
      </p:pic>
      <p:cxnSp>
        <p:nvCxnSpPr>
          <p:cNvPr id="43" name="Straight Connector 42"/>
          <p:cNvCxnSpPr/>
          <p:nvPr userDrawn="1"/>
        </p:nvCxnSpPr>
        <p:spPr>
          <a:xfrm>
            <a:off x="9285605" y="12700"/>
            <a:ext cx="2159635" cy="2159000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 userDrawn="1"/>
        </p:nvCxnSpPr>
        <p:spPr>
          <a:xfrm flipH="1">
            <a:off x="6753860" y="2171700"/>
            <a:ext cx="4681855" cy="4700905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 userDrawn="1"/>
        </p:nvCxnSpPr>
        <p:spPr>
          <a:xfrm>
            <a:off x="5953760" y="12700"/>
            <a:ext cx="2159635" cy="2159000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 userDrawn="1"/>
        </p:nvCxnSpPr>
        <p:spPr>
          <a:xfrm flipH="1">
            <a:off x="3422015" y="2171700"/>
            <a:ext cx="4681855" cy="4700905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1"/>
          <p:cNvSpPr>
            <a:spLocks noGrp="1"/>
          </p:cNvSpPr>
          <p:nvPr>
            <p:ph type="body" sz="quarter" idx="56" hasCustomPrompt="1"/>
          </p:nvPr>
        </p:nvSpPr>
        <p:spPr>
          <a:xfrm>
            <a:off x="1647190" y="6548755"/>
            <a:ext cx="9832340" cy="168910"/>
          </a:xfrm>
          <a:noFill/>
        </p:spPr>
        <p:txBody>
          <a:bodyPr>
            <a:noAutofit/>
          </a:bodyPr>
          <a:lstStyle>
            <a:lvl1pPr marL="0" indent="0">
              <a:buFont typeface="Wingdings" panose="05000000000000000000" charset="0"/>
              <a:buNone/>
              <a:defRPr sz="900">
                <a:solidFill>
                  <a:schemeClr val="tx1"/>
                </a:solidFill>
                <a:latin typeface="Montserrat Medium" charset="0"/>
                <a:cs typeface="Montserrat Medium" charset="0"/>
              </a:defRPr>
            </a:lvl1pPr>
          </a:lstStyle>
          <a:p>
            <a:r>
              <a:rPr lang="en-US"/>
              <a:t>Footer / Sources /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5580" y="6487795"/>
            <a:ext cx="566420" cy="294005"/>
          </a:xfrm>
        </p:spPr>
        <p:txBody>
          <a:bodyPr/>
          <a:lstStyle>
            <a:lvl1pPr algn="l">
              <a:defRPr sz="800" b="1">
                <a:solidFill>
                  <a:srgbClr val="223763"/>
                </a:solidFill>
                <a:latin typeface="Montserrat" charset="0"/>
                <a:cs typeface="Montserrat" charset="0"/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D:\NEKODESIGN\CUSTOMERS\AQUUS\MASAN\Pics\Logo_Masan.pngLogo_Masan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810578" y="6487795"/>
            <a:ext cx="789940" cy="276860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idx="57"/>
          </p:nvPr>
        </p:nvSpPr>
        <p:spPr>
          <a:xfrm>
            <a:off x="680720" y="1244600"/>
            <a:ext cx="10779760" cy="5160010"/>
          </a:xfrm>
        </p:spPr>
        <p:txBody>
          <a:bodyPr/>
          <a:lstStyle>
            <a:lvl1pPr>
              <a:buClr>
                <a:srgbClr val="223763"/>
              </a:buClr>
              <a:buSzPct val="120000"/>
              <a:buFont typeface="Wingdings" panose="05000000000000000000" charset="0"/>
              <a:buChar char="§"/>
              <a:defRPr sz="1200">
                <a:latin typeface="Montserrat Medium" charset="0"/>
                <a:cs typeface="Montserrat Medium" charset="0"/>
              </a:defRPr>
            </a:lvl1pPr>
            <a:lvl2pPr marL="464185" indent="-229870">
              <a:buClr>
                <a:srgbClr val="BFBFBF"/>
              </a:buClr>
              <a:buSzPct val="120000"/>
              <a:buFont typeface="Wingdings" panose="05000000000000000000" charset="0"/>
              <a:buChar char="§"/>
              <a:defRPr sz="1200">
                <a:latin typeface="Montserrat Medium" charset="0"/>
                <a:cs typeface="Montserrat Medium" charset="0"/>
              </a:defRPr>
            </a:lvl2pPr>
            <a:lvl3pPr marL="691515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3pPr>
            <a:lvl4pPr marL="909955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4pPr>
            <a:lvl5pPr marL="1136650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silver logo with blue text&#10;&#10;AI-generated content may be incorrect.">
            <a:extLst>
              <a:ext uri="{FF2B5EF4-FFF2-40B4-BE49-F238E27FC236}">
                <a16:creationId xmlns:a16="http://schemas.microsoft.com/office/drawing/2014/main" id="{4C737808-F86A-2A5E-87E4-4C40FE42200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074" y="208914"/>
            <a:ext cx="796926" cy="79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8390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_FULL_PIC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jdelijke aanduiding voor afbeelding 1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7365"/>
          </a:xfrm>
          <a:blipFill rotWithShape="1">
            <a:blip r:embed="rId2"/>
            <a:stretch>
              <a:fillRect/>
            </a:stretch>
          </a:blipFill>
        </p:spPr>
        <p:txBody>
          <a:bodyPr lIns="0" tIns="0" rIns="365760" bIns="720000" anchor="ctr" anchorCtr="1"/>
          <a:lstStyle>
            <a:lvl1pPr marL="0" indent="0" algn="ctr">
              <a:buNone/>
              <a:defRPr sz="1200" b="0" i="1">
                <a:solidFill>
                  <a:srgbClr val="1B3866"/>
                </a:solidFill>
                <a:latin typeface="Montserrat Medium" charset="0"/>
                <a:cs typeface="Montserrat Medium" charset="0"/>
              </a:defRPr>
            </a:lvl1pPr>
          </a:lstStyle>
          <a:p>
            <a:r>
              <a:rPr lang="en-US" altLang="en-GB" noProof="0" dirty="0">
                <a:sym typeface="+mn-ea"/>
              </a:rPr>
              <a:t>            </a:t>
            </a:r>
            <a:r>
              <a:rPr lang="en-GB" noProof="0" dirty="0">
                <a:sym typeface="+mn-ea"/>
              </a:rPr>
              <a:t>Click on the icon below to insert a picture.</a:t>
            </a:r>
            <a:endParaRPr lang="en-US" altLang="en-GB" noProof="0" dirty="0"/>
          </a:p>
        </p:txBody>
      </p:sp>
      <p:sp>
        <p:nvSpPr>
          <p:cNvPr id="5" name="Title 4"/>
          <p:cNvSpPr>
            <a:spLocks noGrp="1"/>
          </p:cNvSpPr>
          <p:nvPr>
            <p:ph type="ctrTitle" hasCustomPrompt="1"/>
          </p:nvPr>
        </p:nvSpPr>
        <p:spPr>
          <a:xfrm>
            <a:off x="567690" y="1629410"/>
            <a:ext cx="4491990" cy="2051685"/>
          </a:xfrm>
        </p:spPr>
        <p:txBody>
          <a:bodyPr anchor="t" anchorCtr="0"/>
          <a:lstStyle>
            <a:lvl1pPr algn="l">
              <a:defRPr sz="3600">
                <a:solidFill>
                  <a:schemeClr val="accent1"/>
                </a:solidFill>
                <a:latin typeface="Montserrat ExtraBold" charset="0"/>
                <a:cs typeface="Montserrat ExtraBold" charset="0"/>
              </a:defRPr>
            </a:lvl1pPr>
          </a:lstStyle>
          <a:p>
            <a:r>
              <a:rPr lang="en-US"/>
              <a:t>Your title is here</a:t>
            </a:r>
          </a:p>
        </p:txBody>
      </p:sp>
      <p:sp>
        <p:nvSpPr>
          <p:cNvPr id="14" name="Subtitle 13"/>
          <p:cNvSpPr>
            <a:spLocks noGrp="1"/>
          </p:cNvSpPr>
          <p:nvPr>
            <p:ph type="subTitle" idx="1" hasCustomPrompt="1"/>
          </p:nvPr>
        </p:nvSpPr>
        <p:spPr>
          <a:xfrm>
            <a:off x="567690" y="3801745"/>
            <a:ext cx="4491990" cy="1390650"/>
          </a:xfrm>
        </p:spPr>
        <p:txBody>
          <a:bodyPr/>
          <a:lstStyle>
            <a:lvl1pPr marL="0" indent="0" algn="l">
              <a:buNone/>
              <a:defRPr sz="1400">
                <a:solidFill>
                  <a:srgbClr val="C00000"/>
                </a:solidFill>
                <a:latin typeface="Montserrat Medium" charset="0"/>
                <a:cs typeface="Montserrat Medium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Your subtitle is here</a:t>
            </a:r>
          </a:p>
        </p:txBody>
      </p:sp>
      <p:pic>
        <p:nvPicPr>
          <p:cNvPr id="41" name="Picture 40" descr="D:\NEKODESIGN\CUSTOMERS\AQUUS\MASAN\Pics\Logo_Masan.pngLogo_Masan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05485" y="732790"/>
            <a:ext cx="1871345" cy="65595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25580" y="6487795"/>
            <a:ext cx="566420" cy="294005"/>
          </a:xfrm>
        </p:spPr>
        <p:txBody>
          <a:bodyPr/>
          <a:lstStyle>
            <a:lvl1pPr algn="l">
              <a:defRPr sz="800" b="1">
                <a:solidFill>
                  <a:schemeClr val="bg1"/>
                </a:solidFill>
                <a:latin typeface="Montserrat" charset="0"/>
                <a:cs typeface="Montserrat" charset="0"/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56" hasCustomPrompt="1"/>
          </p:nvPr>
        </p:nvSpPr>
        <p:spPr>
          <a:xfrm>
            <a:off x="567690" y="6548755"/>
            <a:ext cx="10911840" cy="149225"/>
          </a:xfrm>
          <a:noFill/>
        </p:spPr>
        <p:txBody>
          <a:bodyPr>
            <a:noAutofit/>
          </a:bodyPr>
          <a:lstStyle>
            <a:lvl1pPr marL="0" indent="0">
              <a:buFont typeface="Wingdings" panose="05000000000000000000" charset="0"/>
              <a:buNone/>
              <a:defRPr sz="900">
                <a:solidFill>
                  <a:schemeClr val="tx1"/>
                </a:solidFill>
                <a:latin typeface="Montserrat Medium" charset="0"/>
                <a:cs typeface="Montserrat Medium" charset="0"/>
              </a:defRPr>
            </a:lvl1pPr>
          </a:lstStyle>
          <a:p>
            <a:r>
              <a:rPr lang="en-US"/>
              <a:t>Footer / Sources / Notes</a:t>
            </a: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CA5343C-6FD6-91D5-D109-9B0BB4CCEE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830" y="484090"/>
            <a:ext cx="2550755" cy="118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8960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9DFB0-7110-448E-810E-319CD8732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14C80-81E2-4DFA-9D40-94751C973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BFFA5-B04B-422E-8129-1F4BE06C7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49B5-7E99-4393-A6EA-8A37C40C04BE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BD882-3E72-4267-A549-DB85101C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2940E-7CF1-4BB9-9E3A-A15217974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851-08BE-4082-A0AA-6D9E6DDE9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328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201F-ADFD-45C3-9C9C-630839E4E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76E7-1E7E-41FE-9AE6-3310B419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96F0A-2F9F-4078-9855-0A6C8AF1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49B5-7E99-4393-A6EA-8A37C40C04BE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16220-D5A6-4496-99A3-8C4BA45B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F6A18-D5BF-45B3-B9B6-C8DC3868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851-08BE-4082-A0AA-6D9E6DDE9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449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CBBBC-B26F-4621-BD38-6F3AD040F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38787-9999-473E-BBEB-3DC1A30C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FAFF3-33A9-4BB2-801C-459CA5908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49B5-7E99-4393-A6EA-8A37C40C04BE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190DB-7E8D-4A33-9B30-7D8EC5C0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41B49-FE79-459C-B47A-F84895075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851-08BE-4082-A0AA-6D9E6DDE9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36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1D1DB-60C3-406B-B6D4-20BDE28D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67788-A555-4F47-8F66-ECF3E0861B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B5C73-8073-4EE2-81D2-7AA7EE35C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0228E-61D2-4DC5-A468-40F03191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49B5-7E99-4393-A6EA-8A37C40C04BE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1A37D-67DE-40B6-9C2E-3ADFC0475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52938-19A5-49EC-8D15-412AF912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851-08BE-4082-A0AA-6D9E6DDE9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214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78A6C-E2CE-45F1-9BF3-61AF2A0EB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98664-D219-441A-A9F8-2D7FF7991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10F95-A7F1-4F82-82DE-2D1C5BA2B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05C69C-8E75-4706-B187-27ABD679F7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97511-354B-4D58-9638-DB3C30FD11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5E7F4-2C8B-4009-BD22-2052D8B21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49B5-7E99-4393-A6EA-8A37C40C04BE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89D79-C842-4242-9C4E-0C6488485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1E230-99BC-476C-9C67-B7D8F619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851-08BE-4082-A0AA-6D9E6DDE9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8383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FC7E-81CE-45FA-A1B7-320D5CB9D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CA1D5E-9D44-4858-88B3-B487920C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49B5-7E99-4393-A6EA-8A37C40C04BE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92B405-0AF5-4240-8CF8-D90A5E81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62987-4875-4B6F-816F-B4647B6E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851-08BE-4082-A0AA-6D9E6DDE9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825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C1A291-9301-44C2-9D33-48BA4D03F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49B5-7E99-4393-A6EA-8A37C40C04BE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F480AD-3B15-4726-B151-BA0028BF5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FC2D0-19B7-4E7A-88B0-547E77ED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851-08BE-4082-A0AA-6D9E6DDE9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755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9751A-1140-440B-81A0-C85C4660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BB049-FEE3-4A39-A71B-454ED72B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7D1C6-AF72-471A-9920-32265A7C7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F7F19-CFC1-4CFE-9C30-C85C520DD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49B5-7E99-4393-A6EA-8A37C40C04BE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D2B93-9A84-465F-A474-F49819B6D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3CD26-5B1A-49AE-84D6-7E5AA241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851-08BE-4082-A0AA-6D9E6DDE9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318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A715-A9A7-49A2-BD83-3F52AA4C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CFB690-E8B8-4E44-9170-D2BF883E3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CC880-5077-4F84-9401-C0EE011EC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BF3E6-A494-4B27-BE59-C87E11D8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49B5-7E99-4393-A6EA-8A37C40C04BE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54986-CDFE-4F34-8B60-C751469FF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268C0-02DB-4938-A8F5-6B54A29B9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851-08BE-4082-A0AA-6D9E6DDE9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941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18A8-D9AE-4BA7-9CD0-787110DC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5A4CB-D8B8-4366-BC53-BCDE7AB69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9BD11-51B6-446E-9C41-B3F93E56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49B5-7E99-4393-A6EA-8A37C40C04BE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4B463-B9CA-4743-8151-2F3BC06D1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9D34E-D070-43A7-AA99-C66F03645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851-08BE-4082-A0AA-6D9E6DDE9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216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BD212A-88FE-49A9-ABC8-D7F1163E0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98275-12E9-49F1-B077-9C42696A5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0C6FC-F6A9-460B-B880-9D7CAED73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49B5-7E99-4393-A6EA-8A37C40C04BE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74837-B1DB-460B-B295-228247E61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FD75C-ECA9-4D10-8F45-87C19C8BE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B8851-08BE-4082-A0AA-6D9E6DDE9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634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17E40D-B216-4710-BD18-207E86DC4C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33" y="-299340"/>
            <a:ext cx="11391334" cy="745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731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BLANK_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NEKODESIGN\CUSTOMERS\AQUUS\MASAN\Pics\Logo_Masan_Trang.pngLogo_Masan_Tra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705485" y="6387465"/>
            <a:ext cx="796925" cy="276860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ctrTitle" hasCustomPrompt="1"/>
          </p:nvPr>
        </p:nvSpPr>
        <p:spPr>
          <a:xfrm>
            <a:off x="680720" y="375285"/>
            <a:ext cx="10779125" cy="777875"/>
          </a:xfrm>
        </p:spPr>
        <p:txBody>
          <a:bodyPr anchor="t" anchorCtr="0"/>
          <a:lstStyle>
            <a:lvl1pPr algn="l">
              <a:defRPr sz="2800">
                <a:solidFill>
                  <a:schemeClr val="accent1"/>
                </a:solidFill>
                <a:latin typeface="Montserrat ExtraBold" charset="0"/>
                <a:cs typeface="Montserrat ExtraBold" charset="0"/>
              </a:defRPr>
            </a:lvl1pPr>
          </a:lstStyle>
          <a:p>
            <a:r>
              <a:rPr lang="en-US"/>
              <a:t>Your Title is Here</a:t>
            </a:r>
          </a:p>
        </p:txBody>
      </p:sp>
      <p:pic>
        <p:nvPicPr>
          <p:cNvPr id="6" name="Picture 5" descr="D:\NEKODESIGN\CUSTOMERS\AQUUS\MASAN\Pics\icon_xanh.pngicon_xanh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311785" y="480060"/>
            <a:ext cx="254635" cy="25463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625580" y="6487795"/>
            <a:ext cx="566420" cy="294005"/>
          </a:xfrm>
        </p:spPr>
        <p:txBody>
          <a:bodyPr/>
          <a:lstStyle>
            <a:lvl1pPr algn="l">
              <a:defRPr sz="800" b="1">
                <a:solidFill>
                  <a:srgbClr val="223763"/>
                </a:solidFill>
                <a:latin typeface="Montserrat" charset="0"/>
                <a:cs typeface="Montserrat" charset="0"/>
              </a:defRPr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57"/>
          </p:nvPr>
        </p:nvSpPr>
        <p:spPr>
          <a:xfrm>
            <a:off x="680720" y="1244600"/>
            <a:ext cx="10779760" cy="5160010"/>
          </a:xfrm>
        </p:spPr>
        <p:txBody>
          <a:bodyPr/>
          <a:lstStyle>
            <a:lvl1pPr>
              <a:buClr>
                <a:srgbClr val="223763"/>
              </a:buClr>
              <a:buSzPct val="120000"/>
              <a:buFont typeface="Wingdings" panose="05000000000000000000" charset="0"/>
              <a:buChar char="§"/>
              <a:defRPr sz="1200">
                <a:latin typeface="Montserrat Medium" charset="0"/>
                <a:cs typeface="Montserrat Medium" charset="0"/>
              </a:defRPr>
            </a:lvl1pPr>
            <a:lvl2pPr marL="464185" indent="-229870">
              <a:buClr>
                <a:srgbClr val="BFBFBF"/>
              </a:buClr>
              <a:buSzPct val="120000"/>
              <a:buFont typeface="Wingdings" panose="05000000000000000000" charset="0"/>
              <a:buChar char="§"/>
              <a:defRPr sz="1200">
                <a:latin typeface="Montserrat Medium" charset="0"/>
                <a:cs typeface="Montserrat Medium" charset="0"/>
              </a:defRPr>
            </a:lvl2pPr>
            <a:lvl3pPr marL="691515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3pPr>
            <a:lvl4pPr marL="909955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4pPr>
            <a:lvl5pPr marL="1136650" indent="-227965">
              <a:buSzPct val="120000"/>
              <a:buFont typeface="Wingdings" panose="05000000000000000000" charset="0"/>
              <a:buChar char="§"/>
              <a:defRPr sz="1000">
                <a:latin typeface="Montserrat Medium" charset="0"/>
                <a:cs typeface="Montserrat Medium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 descr="A silver logo with blue text&#10;&#10;AI-generated content may be incorrect.">
            <a:extLst>
              <a:ext uri="{FF2B5EF4-FFF2-40B4-BE49-F238E27FC236}">
                <a16:creationId xmlns:a16="http://schemas.microsoft.com/office/drawing/2014/main" id="{577BC0B1-C9BE-7F43-32DF-4BCA67B81A0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5074" y="208914"/>
            <a:ext cx="652323" cy="65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267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B930F-4C36-6D4D-5A82-DE7C99298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92431-DF44-7C9B-10B3-631061D70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566CA-8CDA-44D8-8B71-ADFCEED99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B89E6-AA79-41C3-A6D9-99009AEA0965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0DE7F-9EEF-5809-353A-B1EB5FC45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5FA1D-96DB-80BB-72F4-2831BEF2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72A75-785E-496C-A688-B27C238B4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6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84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4" r:id="rId13"/>
    <p:sldLayoutId id="2147483682" r:id="rId14"/>
    <p:sldLayoutId id="2147483683" r:id="rId15"/>
    <p:sldLayoutId id="2147483715" r:id="rId16"/>
    <p:sldLayoutId id="214748373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0E570E-96BF-4DF3-A508-F96E11F0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26CE2-1622-4031-8D39-344080F53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0EC1B-B18A-41F6-9B39-9D4E1FDDBE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F49B5-7E99-4393-A6EA-8A37C40C04BE}" type="datetimeFigureOut">
              <a:rPr lang="en-US" smtClean="0"/>
              <a:t>22/05/2026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0A6AF-3E1B-4FA7-9634-9CD4C1241D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2963F-AB49-4EC0-B90F-67919AC36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B8851-08BE-4082-A0AA-6D9E6DDE9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5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  <p:sldLayoutId id="214748374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emf"/><Relationship Id="rId4" Type="http://schemas.openxmlformats.org/officeDocument/2006/relationships/image" Target="../media/image14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train on the road&#10;&#10;AI-generated content may be incorrect.">
            <a:extLst>
              <a:ext uri="{FF2B5EF4-FFF2-40B4-BE49-F238E27FC236}">
                <a16:creationId xmlns:a16="http://schemas.microsoft.com/office/drawing/2014/main" id="{EFB37034-8A98-187B-FEBC-E089540FFD3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37670" y="-159385"/>
            <a:ext cx="12429669" cy="6991041"/>
          </a:xfrm>
        </p:spPr>
      </p:pic>
      <p:sp>
        <p:nvSpPr>
          <p:cNvPr id="9" name="Freeform 4">
            <a:extLst>
              <a:ext uri="{FF2B5EF4-FFF2-40B4-BE49-F238E27FC236}">
                <a16:creationId xmlns:a16="http://schemas.microsoft.com/office/drawing/2014/main" id="{9A86EDDE-F581-BBB0-966E-C8E1CE1F7FE4}"/>
              </a:ext>
            </a:extLst>
          </p:cNvPr>
          <p:cNvSpPr/>
          <p:nvPr/>
        </p:nvSpPr>
        <p:spPr>
          <a:xfrm rot="10800000" flipH="1">
            <a:off x="-237671" y="-159385"/>
            <a:ext cx="10663277" cy="7269480"/>
          </a:xfrm>
          <a:custGeom>
            <a:avLst/>
            <a:gdLst/>
            <a:ahLst/>
            <a:cxnLst/>
            <a:rect l="l" t="t" r="r" b="b"/>
            <a:pathLst>
              <a:path w="4674333" h="2934451">
                <a:moveTo>
                  <a:pt x="0" y="0"/>
                </a:moveTo>
                <a:lnTo>
                  <a:pt x="4674333" y="0"/>
                </a:lnTo>
                <a:lnTo>
                  <a:pt x="4674333" y="2934451"/>
                </a:lnTo>
                <a:lnTo>
                  <a:pt x="0" y="2934451"/>
                </a:lnTo>
                <a:close/>
              </a:path>
            </a:pathLst>
          </a:custGeom>
          <a:gradFill rotWithShape="1">
            <a:gsLst>
              <a:gs pos="25000">
                <a:srgbClr val="FFFFFF"/>
              </a:gs>
              <a:gs pos="0">
                <a:schemeClr val="bg1"/>
              </a:gs>
              <a:gs pos="50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56"/>
          </p:nvPr>
        </p:nvSpPr>
        <p:spPr>
          <a:xfrm>
            <a:off x="113753" y="4007277"/>
            <a:ext cx="10911840" cy="2110493"/>
          </a:xfrm>
        </p:spPr>
        <p:txBody>
          <a:bodyPr/>
          <a:lstStyle/>
          <a:p>
            <a:r>
              <a:rPr lang="en-US" sz="1200" b="1" dirty="0"/>
              <a:t>Prepared by : </a:t>
            </a:r>
          </a:p>
          <a:p>
            <a:r>
              <a:rPr lang="en-US" sz="1200" b="1" dirty="0"/>
              <a:t>Project leader : Huỳnh Thiên Phú </a:t>
            </a:r>
          </a:p>
          <a:p>
            <a:r>
              <a:rPr lang="en-US" sz="1200" b="1" dirty="0"/>
              <a:t>Member : </a:t>
            </a:r>
          </a:p>
          <a:p>
            <a:r>
              <a:rPr lang="en-US" sz="1200" b="1" dirty="0"/>
              <a:t> 1. Ngô Xuân Hưng  </a:t>
            </a:r>
            <a:r>
              <a:rPr lang="en-US" sz="1200" b="1" dirty="0" err="1"/>
              <a:t>Supra’s</a:t>
            </a:r>
            <a:r>
              <a:rPr lang="en-US" sz="1200" b="1" dirty="0"/>
              <a:t> FMCG Operation Manager</a:t>
            </a:r>
          </a:p>
          <a:p>
            <a:r>
              <a:rPr lang="en-US" sz="1200" b="1" dirty="0"/>
              <a:t>2. Tăng Hà Ngân </a:t>
            </a:r>
            <a:r>
              <a:rPr lang="en-US" sz="1200" b="1" dirty="0" err="1"/>
              <a:t>Supra’s</a:t>
            </a:r>
            <a:r>
              <a:rPr lang="en-US" sz="1200" b="1" dirty="0"/>
              <a:t> Finance Manager</a:t>
            </a:r>
          </a:p>
          <a:p>
            <a:r>
              <a:rPr lang="en-US" sz="1200" b="1" dirty="0"/>
              <a:t>3. ………………</a:t>
            </a:r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</a:t>
            </a:fld>
            <a:endParaRPr lang="en-US"/>
          </a:p>
        </p:txBody>
      </p:sp>
      <p:pic>
        <p:nvPicPr>
          <p:cNvPr id="41" name="Picture 40" descr="D:\NEKODESIGN\CUSTOMERS\AQUUS\MASAN\Pics\Logo_Masan.pngLogo_Masan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169368" y="288075"/>
            <a:ext cx="1389205" cy="486952"/>
          </a:xfrm>
          <a:prstGeom prst="rect">
            <a:avLst/>
          </a:prstGeom>
        </p:spPr>
      </p:pic>
      <p:sp>
        <p:nvSpPr>
          <p:cNvPr id="23" name="Title 4">
            <a:extLst>
              <a:ext uri="{FF2B5EF4-FFF2-40B4-BE49-F238E27FC236}">
                <a16:creationId xmlns:a16="http://schemas.microsoft.com/office/drawing/2014/main" id="{069E7269-E897-CD85-F8DF-494A4AA28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7672" y="2769105"/>
            <a:ext cx="12429668" cy="1057364"/>
          </a:xfr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45000"/>
                  <a:lumOff val="55000"/>
                  <a:alpha val="2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</p:spPr>
        <p:txBody>
          <a:bodyPr>
            <a:noAutofit/>
          </a:bodyPr>
          <a:lstStyle/>
          <a:p>
            <a:pPr marL="403225" indent="-57150">
              <a:tabLst>
                <a:tab pos="60325" algn="l"/>
              </a:tabLst>
            </a:pPr>
            <a:r>
              <a:rPr lang="en-US" sz="4800" b="1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Network Design</a:t>
            </a:r>
            <a:br>
              <a:rPr lang="en-US" sz="4800" b="1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400" b="1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MCH, WCM, MML &amp; PLH </a:t>
            </a:r>
            <a:r>
              <a:rPr lang="en-US" sz="1400" b="1" dirty="0">
                <a:solidFill>
                  <a:srgbClr val="FF0000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Network</a:t>
            </a:r>
            <a:endParaRPr lang="en-US" sz="4800" b="1" dirty="0">
              <a:solidFill>
                <a:srgbClr val="FF0000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D9DEAE5D-3FDC-B9C9-E6E7-6933C2FDD9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394" y="88163"/>
            <a:ext cx="1893570" cy="876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8696-89D6-B068-3C71-F01C1429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78AEAD-A514-5A7E-A338-FC4ABCEF5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720" y="436907"/>
            <a:ext cx="10779125" cy="77787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56082"/>
                </a:solidFill>
                <a:latin typeface="Aptos Black" panose="020B0004020202020204" pitchFamily="34" charset="0"/>
              </a:rPr>
              <a:t>TIÊU CHÍ THÀNH CÔNG CHO NETWORK DESIGN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750AE-72BF-BADA-4A10-9B3ECEE0609C}"/>
              </a:ext>
            </a:extLst>
          </p:cNvPr>
          <p:cNvSpPr txBox="1"/>
          <p:nvPr/>
        </p:nvSpPr>
        <p:spPr>
          <a:xfrm>
            <a:off x="255636" y="734404"/>
            <a:ext cx="11629292" cy="567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 (Body)"/>
              </a:rPr>
              <a:t>DC network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cần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chiếm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giữ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vị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trí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chiến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lược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nhằm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đáp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ứng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nhu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cầu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kho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bãi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phục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vụ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hiệu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quả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nhu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cầu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Kinh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doanh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của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Tập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đoàn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Masan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hiện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tại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và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đáp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ứng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phù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hợp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với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nhu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cầu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mở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rộng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tăng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trưởng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giai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đoạn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2026 - 2030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là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CAGR 19%.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Đây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sẽ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là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tiền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đề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giúp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cho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Supra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sở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hữu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hệ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thống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kho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bãi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phục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vụ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nhu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cầu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supply chain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cho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Việt Nam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tại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2030.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Vị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trí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chiến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lược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bao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gồm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Nằm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chung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hoặc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nằm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gần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các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nhà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máy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Masan Consumers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để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giảm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chi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phí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trung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chuyển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và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bốc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xếp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lên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xuống</a:t>
            </a:r>
            <a:endParaRPr lang="en-US" sz="1400" dirty="0">
              <a:solidFill>
                <a:prstClr val="black"/>
              </a:solidFill>
              <a:latin typeface="Calibri (Body)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Vị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trí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có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khoảng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cách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15-20 km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đến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trung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tâm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TPHCM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và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Hà Nội 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là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2 khu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vực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tiêu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thụ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lớn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hàng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hoá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của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cả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nước</a:t>
            </a:r>
            <a:endParaRPr lang="en-US" sz="1400" dirty="0">
              <a:solidFill>
                <a:prstClr val="black"/>
              </a:solidFill>
              <a:latin typeface="Calibri (Body)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Nằm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gần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khu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vực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có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nhiều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Stores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của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WCM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và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POS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của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MCH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để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nâng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cao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hiệu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quả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last mile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trong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tương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lai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cho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Supra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phục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vụ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Retailed supreme</a:t>
            </a: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Nằm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gần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tuyến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Quốc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lộ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, Cảng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biển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, KCN, Tuyến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trục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đường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bộ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và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không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bị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cấm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tải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giới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hạn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giờ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,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là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điểm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giao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thông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kết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nối</a:t>
            </a:r>
            <a:endParaRPr lang="en-US" sz="1400" dirty="0">
              <a:solidFill>
                <a:prstClr val="black"/>
              </a:solidFill>
              <a:latin typeface="Calibri (Body)"/>
            </a:endParaRP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Calibri (Body)"/>
              </a:rPr>
              <a:t>K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hoảng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cách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từ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DC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đến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thị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trường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tiêu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thụ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có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bán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kính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từ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50 km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đến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không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quá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300km (Leadtime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tối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đa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1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ngày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);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đáp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ứng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OTIF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và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hỗ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trợ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replenishment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nhanh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cho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khách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hàng/NPP/store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đáp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ứng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DR </a:t>
            </a:r>
            <a:r>
              <a:rPr lang="vi-VN" sz="1400" b="1" dirty="0">
                <a:solidFill>
                  <a:prstClr val="black"/>
                </a:solidFill>
                <a:latin typeface="Calibri (Body)"/>
              </a:rPr>
              <a:t>≥</a:t>
            </a:r>
            <a:r>
              <a:rPr lang="en-US" sz="1400" b="1" dirty="0">
                <a:solidFill>
                  <a:prstClr val="black"/>
                </a:solidFill>
                <a:latin typeface="Calibri (Body)"/>
              </a:rPr>
              <a:t> 95%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Quy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mô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của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1 DC :</a:t>
            </a: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Calibri (Body)"/>
              </a:rPr>
              <a:t>Quy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mô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của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DC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phải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đủ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lớn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để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phục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vụ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cho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nhu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cầu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hàng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hoá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của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cả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khu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vực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được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phân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chia :</a:t>
            </a:r>
          </a:p>
          <a:p>
            <a:pPr marL="1257300" lvl="2" indent="-342900" algn="just">
              <a:lnSpc>
                <a:spcPct val="13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Calibri (Body)"/>
              </a:rPr>
              <a:t>National DC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cần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diện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tích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vi-VN" sz="1400" b="1" dirty="0">
                <a:solidFill>
                  <a:prstClr val="black"/>
                </a:solidFill>
                <a:latin typeface="Calibri (Body)"/>
              </a:rPr>
              <a:t>≥</a:t>
            </a:r>
            <a:r>
              <a:rPr lang="en-US" sz="1400" b="1" dirty="0">
                <a:solidFill>
                  <a:prstClr val="black"/>
                </a:solidFill>
                <a:latin typeface="Calibri (Body)"/>
              </a:rPr>
              <a:t> 30,000 m</a:t>
            </a:r>
            <a:r>
              <a:rPr lang="en-US" sz="1400" b="1" baseline="30000" dirty="0">
                <a:solidFill>
                  <a:prstClr val="black"/>
                </a:solidFill>
                <a:latin typeface="Calibri (Body)"/>
              </a:rPr>
              <a:t>2  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đảm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bảo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sức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chứa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tất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cả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các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mặt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hàng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tập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trung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,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điều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phối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hàng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hoá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cho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các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DC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cả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nước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và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để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tối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ưu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định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phí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,  National DC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là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một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complex DC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với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đầy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đủ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khung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nhiệt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độ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và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triển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khai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các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dự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án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tự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động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hóa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chiến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lược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để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(Body)"/>
              </a:rPr>
              <a:t>đạt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 high productivity</a:t>
            </a:r>
          </a:p>
          <a:p>
            <a:pPr marL="1257300" lvl="2" indent="-342900" algn="just">
              <a:lnSpc>
                <a:spcPct val="13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Regional DC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có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diện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tích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vi-V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≥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10,000 m</a:t>
            </a:r>
            <a:r>
              <a:rPr kumimoji="0" lang="en-US" sz="14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2 </a:t>
            </a:r>
            <a:r>
              <a:rPr lang="en-US" sz="1400" b="1" u="none" baseline="300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kumimoji="0" lang="en-US" sz="1400" i="0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và</a:t>
            </a:r>
            <a:r>
              <a:rPr kumimoji="0" lang="en-US" sz="14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tối</a:t>
            </a:r>
            <a:r>
              <a:rPr kumimoji="0" lang="en-US" sz="14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thiểu</a:t>
            </a:r>
            <a:r>
              <a:rPr kumimoji="0" lang="en-US" sz="14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i="0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cần</a:t>
            </a:r>
            <a:r>
              <a:rPr kumimoji="0" lang="en-US" sz="14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synergy FMCG </a:t>
            </a:r>
            <a:r>
              <a:rPr kumimoji="0" lang="en-US" sz="1400" i="0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và</a:t>
            </a:r>
            <a:r>
              <a:rPr kumimoji="0" lang="en-US" sz="1400" i="0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Retail</a:t>
            </a:r>
          </a:p>
          <a:p>
            <a:pPr marL="800100" lvl="1" indent="-342900" algn="just">
              <a:lnSpc>
                <a:spcPct val="130000"/>
              </a:lnSpc>
              <a:buFont typeface="Wingdings" panose="05000000000000000000" pitchFamily="2" charset="2"/>
              <a:buChar char="§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DC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đáp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ứng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các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điều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kiện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PCCC, ATTP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và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ó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khả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năng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mở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rộng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trong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tương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lai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>
                <a:tab pos="4227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Quản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lý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Rủi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ro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:</a:t>
            </a:r>
          </a:p>
          <a:p>
            <a:pPr marL="1257300" marR="0" lvl="2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Rà soát và xác nhận Doanh số 5 năm từ các Trưởng ngành hàng tại MCH và Ban Giám đốc </a:t>
            </a:r>
            <a:r>
              <a:rPr lang="en-US" sz="1400" dirty="0">
                <a:solidFill>
                  <a:prstClr val="black"/>
                </a:solidFill>
                <a:latin typeface="Calibri (Body)"/>
              </a:rPr>
              <a:t>W</a:t>
            </a: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, MML</a:t>
            </a:r>
          </a:p>
          <a:p>
            <a:pPr marL="1257300" marR="0" lvl="2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vi-V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Sẽ chọn 01 khu vực để thực hiện pilot và đánh giá hiệu quả trước khi roll out toàn quốc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1257300" marR="0" lvl="2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Trong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quá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trình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roll out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toàn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quốc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cũng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sẽ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thực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hiện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theo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tiến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độ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phù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hợp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với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tốc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độ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tăng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trưởng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qua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từng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năm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1239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8696-89D6-B068-3C71-F01C1429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78AEAD-A514-5A7E-A338-FC4ABCEF5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720" y="436907"/>
            <a:ext cx="10779125" cy="777875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rgbClr val="156082"/>
                </a:solidFill>
                <a:latin typeface="Aptos Black" panose="020B0004020202020204" pitchFamily="34" charset="0"/>
              </a:rPr>
              <a:t>KEY INPUT</a:t>
            </a:r>
            <a:endParaRPr lang="en-US" sz="2000" dirty="0">
              <a:solidFill>
                <a:srgbClr val="156082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8F5745-6C00-F757-276F-3656D173F953}"/>
              </a:ext>
            </a:extLst>
          </p:cNvPr>
          <p:cNvSpPr txBox="1"/>
          <p:nvPr/>
        </p:nvSpPr>
        <p:spPr>
          <a:xfrm>
            <a:off x="508000" y="825844"/>
            <a:ext cx="1150112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/>
              <a:t>Volumes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/>
              <a:t>Doanh số, NSO theo FC 5 năm (2026-2030): của các công ty thành viên MCH, PLH, WCM, MML.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/>
              <a:t>Quy đổi từ doanh số ra volume theo pcs/cases/tấn/khối/pallet theo giá bán hiện tại.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/>
              <a:t>Phân bổ bán hàng từng vùng miền, tỉnh thành, khu vực, shipto theo portfolio hiện tại.</a:t>
            </a:r>
          </a:p>
          <a:p>
            <a:pPr marL="342900" indent="-342900">
              <a:buAutoNum type="arabicPeriod"/>
            </a:pPr>
            <a:r>
              <a:rPr lang="en-US" sz="1400"/>
              <a:t>Quy mô kho bãi dựa vào: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/>
              <a:t>Dimension hiện hữu.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/>
              <a:t>Số ngày lưu kho: theo stock policies hiện hữu theo từng ngành hàng (Convenience Food, Seasoning, Refreshment Drink, CaNu, HPC, Exp,…) bình quân 14 ngày.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/>
              <a:t>Tỉ lệ pallet chồng đơn/ đôi theo tỉ lệ hiện hữu.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/>
              <a:t>Đối với Ambient retails/ F&amp;B/ Fresh: Diện tích kho bãi / cửa hàng benchmark theo diện tích mô hình hiện hữu.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/>
              <a:t>Hệ số quy đổi từ pallet positions qua m</a:t>
            </a:r>
            <a:r>
              <a:rPr lang="en-US" sz="1400" baseline="30000"/>
              <a:t>2</a:t>
            </a:r>
            <a:r>
              <a:rPr lang="en-US" sz="1400"/>
              <a:t> là 1.25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/>
              <a:t>Bao gồm diện tích phụ trợ khác như: Văn phòng, Trạm sạc, Re-packing,…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/>
              <a:t>Vị trí lựa chọn cho chiến lược kho bãi 5 năm: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/>
              <a:t>Tuân thủ theo điều kiện của 1 kho bãi thành công (slide trước): Vị trí thuận tiện, gần nhà máy, quốc lộ, cảng biển, gần người tiêu dùng,…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/>
              <a:t>Quy hoạch National DC và Regional DC đáp ứng các khung nhiệt độ khác nhau của Ambient và Fresh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/>
              <a:t>Kế hoạch thực thi: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/>
              <a:t>Rà soát nhu cầu, hợp đồng thuê kho hiện hữu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/>
              <a:t>Tìm kiếm vị trí pilot và đánh giá hiệu quả tiền khả thi trên cơ sở kết hợp các dự án tự động hóa chiến lược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/>
              <a:t>Xây dựng đề bài và làm việc với nhà cung cấp để thực hiện dự án, đánh giá hiệu quả pilot và nhân rộng toàn quốc</a:t>
            </a:r>
          </a:p>
        </p:txBody>
      </p:sp>
    </p:spTree>
    <p:extLst>
      <p:ext uri="{BB962C8B-B14F-4D97-AF65-F5344CB8AC3E}">
        <p14:creationId xmlns:p14="http://schemas.microsoft.com/office/powerpoint/2010/main" val="2115393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8696-89D6-B068-3C71-F01C1429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78AEAD-A514-5A7E-A338-FC4ABCEF5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720" y="429287"/>
            <a:ext cx="10779125" cy="77787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ptos Black" panose="020B0004020202020204" pitchFamily="34" charset="0"/>
              </a:rPr>
              <a:t>MSN 5 YEARS FORECAST (2026 – 2030)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2E37F0-629C-0DD9-01C1-5A3B2CA82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55" y="922019"/>
            <a:ext cx="9173845" cy="1849717"/>
          </a:xfrm>
          <a:prstGeom prst="rect">
            <a:avLst/>
          </a:prstGeom>
        </p:spPr>
      </p:pic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6C53508-89C6-8029-15FD-35BD43B567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8484954"/>
              </p:ext>
            </p:extLst>
          </p:nvPr>
        </p:nvGraphicFramePr>
        <p:xfrm>
          <a:off x="808355" y="3048006"/>
          <a:ext cx="7619365" cy="24383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E45CD39-84CD-5472-4BE3-4C690E877F68}"/>
              </a:ext>
            </a:extLst>
          </p:cNvPr>
          <p:cNvSpPr txBox="1"/>
          <p:nvPr/>
        </p:nvSpPr>
        <p:spPr>
          <a:xfrm>
            <a:off x="808355" y="5745480"/>
            <a:ext cx="76193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Giai </a:t>
            </a:r>
            <a:r>
              <a:rPr lang="en-US" sz="1600" b="1" dirty="0" err="1"/>
              <a:t>đoạn</a:t>
            </a:r>
            <a:r>
              <a:rPr lang="en-US" sz="1600" b="1" dirty="0"/>
              <a:t> 2026 – 2030, </a:t>
            </a:r>
            <a:r>
              <a:rPr lang="en-US" sz="1600" b="1" dirty="0" err="1"/>
              <a:t>Tốc</a:t>
            </a:r>
            <a:r>
              <a:rPr lang="en-US" sz="1600" b="1" dirty="0"/>
              <a:t> </a:t>
            </a:r>
            <a:r>
              <a:rPr lang="en-US" sz="1600" b="1" dirty="0" err="1"/>
              <a:t>độ</a:t>
            </a:r>
            <a:r>
              <a:rPr lang="en-US" sz="1600" b="1" dirty="0"/>
              <a:t> </a:t>
            </a:r>
            <a:r>
              <a:rPr lang="en-US" sz="1600" b="1" dirty="0" err="1"/>
              <a:t>tăng</a:t>
            </a:r>
            <a:r>
              <a:rPr lang="en-US" sz="1600" b="1" dirty="0"/>
              <a:t> </a:t>
            </a:r>
            <a:r>
              <a:rPr lang="en-US" sz="1600" b="1" dirty="0" err="1"/>
              <a:t>trưởng</a:t>
            </a:r>
            <a:r>
              <a:rPr lang="en-US" sz="1600" b="1" dirty="0"/>
              <a:t> </a:t>
            </a:r>
            <a:r>
              <a:rPr lang="en-US" sz="1600" b="1" dirty="0" err="1"/>
              <a:t>kép</a:t>
            </a:r>
            <a:r>
              <a:rPr lang="en-US" sz="1600" b="1" dirty="0"/>
              <a:t> </a:t>
            </a:r>
            <a:r>
              <a:rPr lang="en-US" sz="1600" b="1" dirty="0" err="1"/>
              <a:t>của</a:t>
            </a:r>
            <a:r>
              <a:rPr lang="en-US" sz="1600" b="1" dirty="0"/>
              <a:t> </a:t>
            </a:r>
            <a:r>
              <a:rPr lang="en-US" sz="1600" b="1" dirty="0" err="1"/>
              <a:t>Doanh</a:t>
            </a:r>
            <a:r>
              <a:rPr lang="en-US" sz="1600" b="1" dirty="0"/>
              <a:t> </a:t>
            </a:r>
            <a:r>
              <a:rPr lang="en-US" sz="1600" b="1" dirty="0" err="1"/>
              <a:t>số</a:t>
            </a:r>
            <a:r>
              <a:rPr lang="en-US" sz="1600" b="1" dirty="0"/>
              <a:t> </a:t>
            </a:r>
            <a:r>
              <a:rPr lang="en-US" sz="1600" b="1" dirty="0" err="1"/>
              <a:t>đạt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FF0000"/>
                </a:solidFill>
              </a:rPr>
              <a:t>CAGR 19% </a:t>
            </a:r>
          </a:p>
          <a:p>
            <a:r>
              <a:rPr lang="en-US" sz="1600" b="1" dirty="0">
                <a:solidFill>
                  <a:srgbClr val="FF0000"/>
                </a:solidFill>
              </a:rPr>
              <a:t>BỔ SUNG SỐ STORE WCM, PLH (CHƯA CÓ SỐ NÀY, MỚI CÓ PLH)</a:t>
            </a:r>
          </a:p>
        </p:txBody>
      </p:sp>
    </p:spTree>
    <p:extLst>
      <p:ext uri="{BB962C8B-B14F-4D97-AF65-F5344CB8AC3E}">
        <p14:creationId xmlns:p14="http://schemas.microsoft.com/office/powerpoint/2010/main" val="1841203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8696-89D6-B068-3C71-F01C1429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4BCE3592-DD78-DE98-F3A4-7DC496365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124" y="497678"/>
            <a:ext cx="3843052" cy="5643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C66329-87EC-5A90-A457-ACE747015F2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113094" y="1404820"/>
            <a:ext cx="94118" cy="94356"/>
          </a:xfrm>
          <a:prstGeom prst="rect">
            <a:avLst/>
          </a:prstGeom>
          <a:noFill/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6311B24-29AA-9A33-84BC-82219C0DCBB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55219" y="2183665"/>
            <a:ext cx="94118" cy="94356"/>
          </a:xfrm>
          <a:prstGeom prst="rect">
            <a:avLst/>
          </a:prstGeom>
          <a:noFill/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B25A45F-88F7-A62B-3AD8-74F0386832C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812033" y="1451998"/>
            <a:ext cx="94118" cy="94356"/>
          </a:xfrm>
          <a:prstGeom prst="rect">
            <a:avLst/>
          </a:prstGeom>
          <a:noFill/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0A6DEE9-530D-CF2C-B4F3-3B992B91DDC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549447" y="4803494"/>
            <a:ext cx="94118" cy="94356"/>
          </a:xfrm>
          <a:prstGeom prst="rect">
            <a:avLst/>
          </a:prstGeom>
          <a:noFill/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42C57EC-01F3-857E-1324-B622045B5E4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39146" y="4832256"/>
            <a:ext cx="94118" cy="94356"/>
          </a:xfrm>
          <a:prstGeom prst="rect">
            <a:avLst/>
          </a:prstGeom>
          <a:noFill/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1342F18-E5CB-DF9B-018C-531A48A7456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18976" y="4970142"/>
            <a:ext cx="94118" cy="94356"/>
          </a:xfrm>
          <a:prstGeom prst="rect">
            <a:avLst/>
          </a:prstGeom>
          <a:noFill/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DE803BB-C4BC-F59C-5BEB-14858A2645B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44669" y="4875786"/>
            <a:ext cx="94118" cy="94356"/>
          </a:xfrm>
          <a:prstGeom prst="rect">
            <a:avLst/>
          </a:prstGeom>
          <a:noFill/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9358150-64A1-0D09-4062-ECFB0B60DBB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84247" y="5274158"/>
            <a:ext cx="94118" cy="94356"/>
          </a:xfrm>
          <a:prstGeom prst="rect">
            <a:avLst/>
          </a:prstGeom>
          <a:noFill/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E7F0628-55F1-9183-D9A4-B0F9CD31A42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025243" y="5150774"/>
            <a:ext cx="94118" cy="94356"/>
          </a:xfrm>
          <a:prstGeom prst="rect">
            <a:avLst/>
          </a:prstGeom>
          <a:noFill/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573B397-60CB-4890-F75A-8727F45D171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15789" y="4922964"/>
            <a:ext cx="94118" cy="94356"/>
          </a:xfrm>
          <a:prstGeom prst="rect">
            <a:avLst/>
          </a:prstGeom>
          <a:noFill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2E519C-6438-74A9-89D5-FF020C91EB4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67161" y="4128580"/>
            <a:ext cx="94118" cy="94356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E78AEAD-A514-5A7E-A338-FC4ABCEF5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720" y="436907"/>
            <a:ext cx="10779125" cy="77787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56082"/>
                </a:solidFill>
                <a:latin typeface="Aptos Black" panose="020B0004020202020204" pitchFamily="34" charset="0"/>
              </a:rPr>
              <a:t>MSN – STORAGE SPACE 2030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56EF64-2754-F078-E5A6-F2F0808267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824" y="972543"/>
            <a:ext cx="4351020" cy="366317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DFDD7CD-A3C7-4664-CF59-6FE66FACA7EE}"/>
              </a:ext>
            </a:extLst>
          </p:cNvPr>
          <p:cNvSpPr txBox="1"/>
          <p:nvPr/>
        </p:nvSpPr>
        <p:spPr>
          <a:xfrm>
            <a:off x="732155" y="4716297"/>
            <a:ext cx="4473445" cy="909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Nhu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cầu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cho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kế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hoạch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tăng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trưởng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5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năm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~ 588k m</a:t>
            </a:r>
            <a:r>
              <a:rPr kumimoji="0" lang="en-US" sz="14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2</a:t>
            </a:r>
            <a:r>
              <a:rPr kumimoji="0" lang="en-US" sz="1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, </a:t>
            </a:r>
            <a:r>
              <a:rPr kumimoji="0" lang="en-US" sz="1400" b="1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gồm</a:t>
            </a:r>
            <a:r>
              <a:rPr kumimoji="0" lang="en-US" sz="1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2 Mega DC </a:t>
            </a:r>
            <a:r>
              <a:rPr kumimoji="0" lang="en-US" sz="140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tại</a:t>
            </a:r>
            <a: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Hưng </a:t>
            </a:r>
            <a:r>
              <a:rPr kumimoji="0" lang="en-US" sz="140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Yên</a:t>
            </a:r>
            <a: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, Bình </a:t>
            </a:r>
            <a:r>
              <a:rPr kumimoji="0" lang="en-US" sz="140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Dương</a:t>
            </a:r>
            <a:endParaRPr kumimoji="0" lang="en-US" sz="140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Các</a:t>
            </a:r>
            <a:r>
              <a:rPr kumimoji="0" lang="en-US" sz="14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Regional DCs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904B6A-80AC-99E5-FFA1-67A891E9B337}"/>
              </a:ext>
            </a:extLst>
          </p:cNvPr>
          <p:cNvSpPr txBox="1"/>
          <p:nvPr/>
        </p:nvSpPr>
        <p:spPr>
          <a:xfrm>
            <a:off x="732155" y="5885457"/>
            <a:ext cx="3730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Break </a:t>
            </a:r>
            <a:r>
              <a:rPr lang="en-US" sz="1800" b="1" dirty="0" err="1">
                <a:solidFill>
                  <a:srgbClr val="FF0000"/>
                </a:solidFill>
              </a:rPr>
              <a:t>nó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ra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thành</a:t>
            </a:r>
            <a:r>
              <a:rPr lang="en-US" sz="1800" b="1" dirty="0">
                <a:solidFill>
                  <a:srgbClr val="FF0000"/>
                </a:solidFill>
              </a:rPr>
              <a:t> 5 </a:t>
            </a:r>
            <a:r>
              <a:rPr lang="en-US" sz="1800" b="1" dirty="0" err="1">
                <a:solidFill>
                  <a:srgbClr val="FF0000"/>
                </a:solidFill>
              </a:rPr>
              <a:t>năm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cho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thấy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tăng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trưởng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và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đánh</a:t>
            </a:r>
            <a:r>
              <a:rPr lang="en-US" sz="1800" b="1" dirty="0">
                <a:solidFill>
                  <a:srgbClr val="FF0000"/>
                </a:solidFill>
              </a:rPr>
              <a:t> số </a:t>
            </a:r>
            <a:r>
              <a:rPr lang="en-US" sz="1800" b="1" dirty="0" err="1">
                <a:solidFill>
                  <a:srgbClr val="FF0000"/>
                </a:solidFill>
              </a:rPr>
              <a:t>từ</a:t>
            </a:r>
            <a:r>
              <a:rPr lang="en-US" sz="1800" b="1" dirty="0">
                <a:solidFill>
                  <a:srgbClr val="FF0000"/>
                </a:solidFill>
              </a:rPr>
              <a:t> 1 </a:t>
            </a:r>
            <a:r>
              <a:rPr lang="en-US" sz="1800" b="1" dirty="0" err="1">
                <a:solidFill>
                  <a:srgbClr val="FF0000"/>
                </a:solidFill>
              </a:rPr>
              <a:t>đến</a:t>
            </a:r>
            <a:r>
              <a:rPr lang="en-US" sz="1800" b="1" dirty="0">
                <a:solidFill>
                  <a:srgbClr val="FF0000"/>
                </a:solidFill>
              </a:rPr>
              <a:t>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85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8696-89D6-B068-3C71-F01C1429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78AEAD-A514-5A7E-A338-FC4ABCEF5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720" y="436907"/>
            <a:ext cx="10779125" cy="77787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56082"/>
                </a:solidFill>
                <a:latin typeface="Aptos Black" panose="020B0004020202020204" pitchFamily="34" charset="0"/>
              </a:rPr>
              <a:t>KẾ HOẠCH XÂY DỰNG National DC</a:t>
            </a:r>
            <a:br>
              <a:rPr lang="en-US" sz="2000" dirty="0">
                <a:solidFill>
                  <a:srgbClr val="156082"/>
                </a:solidFill>
                <a:latin typeface="Aptos Black" panose="020B0004020202020204" pitchFamily="34" charset="0"/>
              </a:rPr>
            </a:br>
            <a:br>
              <a:rPr lang="en-US" sz="400" dirty="0">
                <a:solidFill>
                  <a:srgbClr val="156082"/>
                </a:solidFill>
                <a:latin typeface="Aptos Black" panose="020B0004020202020204" pitchFamily="34" charset="0"/>
              </a:rPr>
            </a:br>
            <a:r>
              <a:rPr lang="en-US" sz="1200" dirty="0">
                <a:solidFill>
                  <a:srgbClr val="FF0000"/>
                </a:solidFill>
                <a:latin typeface="Aptos Black" panose="020B0004020202020204" pitchFamily="34" charset="0"/>
              </a:rPr>
              <a:t>PILOT TẠI BÌNH DƯƠNG</a:t>
            </a:r>
            <a:endParaRPr lang="en-US" sz="200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0E2EA-12E4-9553-FFAF-00C2C1A09A8C}"/>
              </a:ext>
            </a:extLst>
          </p:cNvPr>
          <p:cNvSpPr txBox="1"/>
          <p:nvPr/>
        </p:nvSpPr>
        <p:spPr>
          <a:xfrm>
            <a:off x="732155" y="1068970"/>
            <a:ext cx="9645221" cy="559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Vị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trí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Đối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lang="en-US" sz="1200" b="1" dirty="0" err="1">
                <a:solidFill>
                  <a:prstClr val="black"/>
                </a:solidFill>
                <a:latin typeface="Calibri (Body)"/>
              </a:rPr>
              <a:t>diện</a:t>
            </a:r>
            <a:r>
              <a:rPr lang="en-US" sz="1200" b="1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b="1" dirty="0" err="1">
                <a:solidFill>
                  <a:prstClr val="black"/>
                </a:solidFill>
                <a:latin typeface="Calibri (Body)"/>
              </a:rPr>
              <a:t>Nhà</a:t>
            </a:r>
            <a:r>
              <a:rPr lang="en-US" sz="1200" b="1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b="1" dirty="0" err="1">
                <a:solidFill>
                  <a:prstClr val="black"/>
                </a:solidFill>
                <a:latin typeface="Calibri (Body)"/>
              </a:rPr>
              <a:t>máy</a:t>
            </a:r>
            <a:r>
              <a:rPr lang="en-US" sz="1200" b="1" dirty="0">
                <a:solidFill>
                  <a:prstClr val="black"/>
                </a:solidFill>
                <a:latin typeface="Calibri (Body)"/>
              </a:rPr>
              <a:t> MSI – Bình </a:t>
            </a:r>
            <a:r>
              <a:rPr lang="en-US" sz="1200" b="1" dirty="0" err="1">
                <a:solidFill>
                  <a:prstClr val="black"/>
                </a:solidFill>
                <a:latin typeface="Calibri (Body)"/>
              </a:rPr>
              <a:t>Dương</a:t>
            </a:r>
            <a:endParaRPr lang="en-US" sz="1200" b="1" dirty="0">
              <a:solidFill>
                <a:prstClr val="black"/>
              </a:solidFill>
              <a:latin typeface="Calibri (Body)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Calibri (Body)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Calibri (Body)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Calibri (Body)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Calibri (Body)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Calibri (Body)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Calibri (Body)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Diện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tích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Đất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52,000 m</a:t>
            </a:r>
            <a:r>
              <a:rPr kumimoji="0" lang="en-US" sz="12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2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Diện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tích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Xây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dựng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Nhà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kho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Chính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: </a:t>
            </a:r>
            <a:r>
              <a:rPr lang="en-US" sz="1200" b="1" dirty="0">
                <a:solidFill>
                  <a:prstClr val="black"/>
                </a:solidFill>
                <a:latin typeface="Calibri (Body)"/>
              </a:rPr>
              <a:t>27,500 m</a:t>
            </a:r>
            <a:r>
              <a:rPr lang="en-US" sz="1200" b="1" baseline="30000" dirty="0">
                <a:solidFill>
                  <a:prstClr val="black"/>
                </a:solidFill>
                <a:latin typeface="Calibri (Body)"/>
              </a:rPr>
              <a:t>2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Diện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tích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Bãi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: </a:t>
            </a:r>
            <a:r>
              <a:rPr kumimoji="0" lang="en-US" sz="12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15,000 m</a:t>
            </a:r>
            <a:r>
              <a:rPr kumimoji="0" lang="en-US" sz="12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2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Mảng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xanh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: </a:t>
            </a:r>
            <a:r>
              <a:rPr lang="en-US" sz="1200" b="1" dirty="0">
                <a:solidFill>
                  <a:prstClr val="black"/>
                </a:solidFill>
                <a:latin typeface="Calibri (Body)"/>
              </a:rPr>
              <a:t>7,500 m</a:t>
            </a:r>
            <a:r>
              <a:rPr lang="en-US" sz="1200" b="1" baseline="30000" dirty="0">
                <a:solidFill>
                  <a:prstClr val="black"/>
                </a:solidFill>
                <a:latin typeface="Calibri (Body)"/>
              </a:rPr>
              <a:t>2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Quy </a:t>
            </a:r>
            <a:r>
              <a:rPr kumimoji="0" lang="en-US" sz="120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hoạch</a:t>
            </a:r>
            <a:r>
              <a:rPr kumimoji="0" lang="en-US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: 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National </a:t>
            </a:r>
            <a:r>
              <a:rPr kumimoji="0" lang="en-US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DCs (Hybrid Automation DCs) </a:t>
            </a:r>
            <a:r>
              <a:rPr kumimoji="0" lang="en-US" sz="120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cho</a:t>
            </a:r>
            <a:r>
              <a:rPr kumimoji="0" lang="en-US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nhu</a:t>
            </a:r>
            <a:r>
              <a:rPr kumimoji="0" lang="en-US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cầu</a:t>
            </a:r>
            <a:r>
              <a:rPr kumimoji="0" lang="en-US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phát</a:t>
            </a:r>
            <a:r>
              <a:rPr kumimoji="0" lang="en-US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triển</a:t>
            </a:r>
            <a:r>
              <a:rPr kumimoji="0" lang="en-US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dài</a:t>
            </a:r>
            <a:r>
              <a:rPr kumimoji="0" lang="en-US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hạn</a:t>
            </a:r>
            <a:r>
              <a:rPr kumimoji="0" lang="en-US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của</a:t>
            </a:r>
            <a:r>
              <a:rPr kumimoji="0" lang="en-US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HCM &amp; Miền Đông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Calibri (Body)"/>
              </a:rPr>
              <a:t>ASRS Stacker Cranes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Back – To – Back Selective Rack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Calibri (Body)"/>
              </a:rPr>
              <a:t>Floor</a:t>
            </a:r>
            <a:endParaRPr kumimoji="0" lang="en-US" sz="120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C1AE1F-26EC-BAB2-0FC9-CA385EF15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178" y="1379411"/>
            <a:ext cx="4162631" cy="322383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BCEB59-7F50-6CA2-39FD-030EB69774C3}"/>
              </a:ext>
            </a:extLst>
          </p:cNvPr>
          <p:cNvSpPr/>
          <p:nvPr/>
        </p:nvSpPr>
        <p:spPr>
          <a:xfrm rot="1021878">
            <a:off x="3235123" y="2192070"/>
            <a:ext cx="1141228" cy="1720746"/>
          </a:xfrm>
          <a:prstGeom prst="roundRect">
            <a:avLst>
              <a:gd name="adj" fmla="val 4321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377F70-F789-139D-5582-C19F79714688}"/>
              </a:ext>
            </a:extLst>
          </p:cNvPr>
          <p:cNvSpPr/>
          <p:nvPr/>
        </p:nvSpPr>
        <p:spPr>
          <a:xfrm rot="1021878">
            <a:off x="1428637" y="1726910"/>
            <a:ext cx="1767930" cy="1720746"/>
          </a:xfrm>
          <a:prstGeom prst="roundRect">
            <a:avLst>
              <a:gd name="adj" fmla="val 4321"/>
            </a:avLst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6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8696-89D6-B068-3C71-F01C1429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78AEAD-A514-5A7E-A338-FC4ABCEF5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720" y="436907"/>
            <a:ext cx="10779125" cy="77787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56082"/>
                </a:solidFill>
                <a:latin typeface="Aptos Black" panose="020B0004020202020204" pitchFamily="34" charset="0"/>
              </a:rPr>
              <a:t>LAYOUT DỰ KIẾN</a:t>
            </a:r>
            <a:endParaRPr lang="en-US" sz="200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27594D-E4CD-8466-ACB0-C86A5A611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15" y="851489"/>
            <a:ext cx="9074785" cy="5738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062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8696-89D6-B068-3C71-F01C1429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78AEAD-A514-5A7E-A338-FC4ABCEF5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720" y="436907"/>
            <a:ext cx="10779125" cy="77787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56082"/>
                </a:solidFill>
                <a:latin typeface="Aptos Black" panose="020B0004020202020204" pitchFamily="34" charset="0"/>
              </a:rPr>
              <a:t>CÁC GIẢ ĐỊNH TÍNH TOÁN HIỆU QUẢ</a:t>
            </a:r>
            <a:endParaRPr lang="en-US" sz="200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0E2EA-12E4-9553-FFAF-00C2C1A09A8C}"/>
              </a:ext>
            </a:extLst>
          </p:cNvPr>
          <p:cNvSpPr txBox="1"/>
          <p:nvPr/>
        </p:nvSpPr>
        <p:spPr>
          <a:xfrm>
            <a:off x="732155" y="825844"/>
            <a:ext cx="9645221" cy="5834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b="1" dirty="0">
                <a:latin typeface="Calibri (Body)"/>
              </a:rPr>
              <a:t>Capex </a:t>
            </a:r>
            <a:r>
              <a:rPr lang="en-US" sz="1200" b="1" dirty="0" err="1">
                <a:latin typeface="Calibri (Body)"/>
              </a:rPr>
              <a:t>đầu</a:t>
            </a:r>
            <a:r>
              <a:rPr lang="en-US" sz="1200" b="1" dirty="0">
                <a:latin typeface="Calibri (Body)"/>
              </a:rPr>
              <a:t> </a:t>
            </a:r>
            <a:r>
              <a:rPr lang="en-US" sz="1200" b="1" dirty="0" err="1">
                <a:latin typeface="Calibri (Body)"/>
              </a:rPr>
              <a:t>tư</a:t>
            </a:r>
            <a:r>
              <a:rPr lang="en-US" sz="1200" b="1" dirty="0">
                <a:latin typeface="Calibri (Body)"/>
              </a:rPr>
              <a:t>: </a:t>
            </a:r>
            <a:r>
              <a:rPr lang="en-US" sz="1200" b="1" dirty="0" err="1">
                <a:latin typeface="Calibri (Body)"/>
              </a:rPr>
              <a:t>Dự</a:t>
            </a:r>
            <a:r>
              <a:rPr lang="en-US" sz="1200" b="1" dirty="0">
                <a:latin typeface="Calibri (Body)"/>
              </a:rPr>
              <a:t> </a:t>
            </a:r>
            <a:r>
              <a:rPr lang="en-US" sz="1200" b="1" dirty="0" err="1">
                <a:latin typeface="Calibri (Body)"/>
              </a:rPr>
              <a:t>kiến</a:t>
            </a:r>
            <a:r>
              <a:rPr lang="en-US" sz="1200" b="1" dirty="0">
                <a:latin typeface="Calibri (Body)"/>
              </a:rPr>
              <a:t> 775 </a:t>
            </a:r>
            <a:r>
              <a:rPr lang="en-US" sz="1200" b="1" dirty="0" err="1">
                <a:latin typeface="Calibri (Body)"/>
              </a:rPr>
              <a:t>tỷ</a:t>
            </a:r>
            <a:r>
              <a:rPr lang="en-US" sz="1200" b="1" dirty="0">
                <a:latin typeface="Calibri (Body)"/>
              </a:rPr>
              <a:t> VNĐ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Calibri (Body)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Calibri (Body)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Calibri (Body)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Calibri (Body)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Quy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mô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: 27,500 m</a:t>
            </a:r>
            <a:r>
              <a:rPr kumimoji="0" lang="en-US" sz="12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2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Vùng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cung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ứng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: Kerry &amp; TBS </a:t>
            </a:r>
            <a:r>
              <a:rPr kumimoji="0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hiện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tại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(</a:t>
            </a:r>
            <a:r>
              <a:rPr kumimoji="0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Miền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Đông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Tây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Nguyên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&amp; </a:t>
            </a:r>
            <a:r>
              <a:rPr kumimoji="0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Miền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Tây</a:t>
            </a:r>
            <a:r>
              <a:rPr kumimoji="0" lang="en-US" sz="1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)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Tương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lai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: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Tập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trung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cung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ứng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HCM,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Miền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Đông</a:t>
            </a:r>
            <a:endParaRPr kumimoji="0" lang="en-US" sz="12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b="1" dirty="0" err="1">
                <a:solidFill>
                  <a:prstClr val="black"/>
                </a:solidFill>
                <a:latin typeface="Calibri (Body)"/>
              </a:rPr>
              <a:t>Mô</a:t>
            </a:r>
            <a:r>
              <a:rPr lang="en-US" sz="1200" b="1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b="1" dirty="0" err="1">
                <a:solidFill>
                  <a:prstClr val="black"/>
                </a:solidFill>
                <a:latin typeface="Calibri (Body)"/>
              </a:rPr>
              <a:t>hình</a:t>
            </a:r>
            <a:r>
              <a:rPr lang="en-US" sz="1200" b="1" dirty="0">
                <a:solidFill>
                  <a:prstClr val="black"/>
                </a:solidFill>
                <a:latin typeface="Calibri (Body)"/>
              </a:rPr>
              <a:t>: Hybrid DCs: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Calibri (Body)"/>
              </a:rPr>
              <a:t>ASRS Stacker Cranes: 8,500 m2 (NET) ~ 22,300 pallet position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sz="120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Back – To – Back Selective Rack: 6,000 m2 (NET) ~ 8,600 pallet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Calibri (Body)"/>
              </a:rPr>
              <a:t>Floor: 4,000 m2 (NET) ~ 2,200 pallet position (single stack ~ 45%)</a:t>
            </a:r>
            <a:endParaRPr kumimoji="0" lang="en-US" sz="120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prstClr val="black"/>
                </a:solidFill>
                <a:latin typeface="Calibri (Body)"/>
              </a:rPr>
              <a:t>Total capacity ~ 34,000 pallet position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Calibri (Body)"/>
              </a:rPr>
              <a:t>Layout &amp; Capacity (Next Slide)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Hiệu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quả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tài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chính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(Body)"/>
                <a:ea typeface="+mn-ea"/>
                <a:cs typeface="+mn-cs"/>
              </a:rPr>
              <a:t> (Key Drivers</a:t>
            </a:r>
            <a:r>
              <a:rPr lang="en-US" sz="1200" b="1" dirty="0">
                <a:solidFill>
                  <a:prstClr val="black"/>
                </a:solidFill>
                <a:latin typeface="Calibri (Body)"/>
                <a:sym typeface="Wingdings" panose="05000000000000000000" pitchFamily="2" charset="2"/>
              </a:rPr>
              <a:t>)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Giảm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50% chi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phí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vận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tải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từ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MSI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Giảm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10,000 / pallet chi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phí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vận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hành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từ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hiệu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ứng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centralized</a:t>
            </a:r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Giảm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chi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phí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thuê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kho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từ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việc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sử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Calibri (Body)"/>
              </a:rPr>
              <a:t>dụng</a:t>
            </a:r>
            <a:r>
              <a:rPr lang="en-US" sz="1200" dirty="0">
                <a:solidFill>
                  <a:prstClr val="black"/>
                </a:solidFill>
                <a:latin typeface="Calibri (Body)"/>
              </a:rPr>
              <a:t> rack</a:t>
            </a:r>
            <a:endParaRPr kumimoji="0" lang="en-US" sz="120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(Body)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448744-7AF6-14B0-6C6A-929F485DC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695" y="1211959"/>
            <a:ext cx="7827992" cy="211518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D7CEC4-F43A-1CE2-5B9A-FC34E44DB7CB}"/>
              </a:ext>
            </a:extLst>
          </p:cNvPr>
          <p:cNvSpPr/>
          <p:nvPr/>
        </p:nvSpPr>
        <p:spPr>
          <a:xfrm>
            <a:off x="1120141" y="1120140"/>
            <a:ext cx="8039100" cy="2308860"/>
          </a:xfrm>
          <a:prstGeom prst="rect">
            <a:avLst/>
          </a:prstGeom>
          <a:noFill/>
          <a:ln w="952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253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8696-89D6-B068-3C71-F01C1429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78AEAD-A514-5A7E-A338-FC4ABCEF5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720" y="436907"/>
            <a:ext cx="10779125" cy="77787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56082"/>
                </a:solidFill>
                <a:latin typeface="Aptos Black" panose="020B0004020202020204" pitchFamily="34" charset="0"/>
              </a:rPr>
              <a:t>CAPACITY</a:t>
            </a:r>
            <a:endParaRPr lang="en-US" sz="200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00E6A4-B15D-9EBA-3FE0-6EB85910C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95" y="787744"/>
            <a:ext cx="10286365" cy="5906425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FC97286-70B7-9911-334B-022A19A8AEF8}"/>
              </a:ext>
            </a:extLst>
          </p:cNvPr>
          <p:cNvSpPr/>
          <p:nvPr/>
        </p:nvSpPr>
        <p:spPr>
          <a:xfrm>
            <a:off x="2331720" y="3394246"/>
            <a:ext cx="815340" cy="606254"/>
          </a:xfrm>
          <a:prstGeom prst="round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4B69EDE-0911-0964-4B71-9E503A95FA2F}"/>
              </a:ext>
            </a:extLst>
          </p:cNvPr>
          <p:cNvSpPr/>
          <p:nvPr/>
        </p:nvSpPr>
        <p:spPr>
          <a:xfrm>
            <a:off x="7437120" y="3394246"/>
            <a:ext cx="815340" cy="606254"/>
          </a:xfrm>
          <a:prstGeom prst="round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DD141C-2742-0069-B4E8-0A53A7FF83C8}"/>
              </a:ext>
            </a:extLst>
          </p:cNvPr>
          <p:cNvSpPr/>
          <p:nvPr/>
        </p:nvSpPr>
        <p:spPr>
          <a:xfrm>
            <a:off x="2263140" y="6240780"/>
            <a:ext cx="815340" cy="41287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26401A-6762-D33A-2734-498FB7E8DD5C}"/>
              </a:ext>
            </a:extLst>
          </p:cNvPr>
          <p:cNvSpPr/>
          <p:nvPr/>
        </p:nvSpPr>
        <p:spPr>
          <a:xfrm>
            <a:off x="9944100" y="4937760"/>
            <a:ext cx="411480" cy="54864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hape 521">
            <a:extLst>
              <a:ext uri="{FF2B5EF4-FFF2-40B4-BE49-F238E27FC236}">
                <a16:creationId xmlns:a16="http://schemas.microsoft.com/office/drawing/2014/main" id="{31697AB5-AD88-B7A6-1A83-7FCB91208166}"/>
              </a:ext>
            </a:extLst>
          </p:cNvPr>
          <p:cNvSpPr/>
          <p:nvPr/>
        </p:nvSpPr>
        <p:spPr>
          <a:xfrm>
            <a:off x="2883285" y="3220186"/>
            <a:ext cx="292478" cy="267081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algn="ctr">
              <a:buSzPct val="25000"/>
            </a:pPr>
            <a:r>
              <a:rPr lang="en-US" sz="1600" b="1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</a:p>
        </p:txBody>
      </p:sp>
      <p:sp>
        <p:nvSpPr>
          <p:cNvPr id="11" name="Shape 521">
            <a:extLst>
              <a:ext uri="{FF2B5EF4-FFF2-40B4-BE49-F238E27FC236}">
                <a16:creationId xmlns:a16="http://schemas.microsoft.com/office/drawing/2014/main" id="{9DFD0412-2254-BC88-2D4C-F96264C35C02}"/>
              </a:ext>
            </a:extLst>
          </p:cNvPr>
          <p:cNvSpPr/>
          <p:nvPr/>
        </p:nvSpPr>
        <p:spPr>
          <a:xfrm>
            <a:off x="8106221" y="3260705"/>
            <a:ext cx="292478" cy="267081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algn="ctr">
              <a:buSzPct val="25000"/>
            </a:pPr>
            <a:r>
              <a:rPr lang="en-US" sz="1600" b="1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12" name="Shape 521">
            <a:extLst>
              <a:ext uri="{FF2B5EF4-FFF2-40B4-BE49-F238E27FC236}">
                <a16:creationId xmlns:a16="http://schemas.microsoft.com/office/drawing/2014/main" id="{513EA6CE-47C5-D928-0AC3-D5CB08303194}"/>
              </a:ext>
            </a:extLst>
          </p:cNvPr>
          <p:cNvSpPr/>
          <p:nvPr/>
        </p:nvSpPr>
        <p:spPr>
          <a:xfrm>
            <a:off x="3013966" y="6070256"/>
            <a:ext cx="292478" cy="267081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algn="ctr">
              <a:buSzPct val="25000"/>
            </a:pPr>
            <a:r>
              <a:rPr lang="en-US" sz="1600" b="1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</a:p>
        </p:txBody>
      </p:sp>
      <p:sp>
        <p:nvSpPr>
          <p:cNvPr id="13" name="Shape 521">
            <a:extLst>
              <a:ext uri="{FF2B5EF4-FFF2-40B4-BE49-F238E27FC236}">
                <a16:creationId xmlns:a16="http://schemas.microsoft.com/office/drawing/2014/main" id="{E173B276-CCDA-C61A-5D98-F1518D9F2A76}"/>
              </a:ext>
            </a:extLst>
          </p:cNvPr>
          <p:cNvSpPr/>
          <p:nvPr/>
        </p:nvSpPr>
        <p:spPr>
          <a:xfrm>
            <a:off x="10149839" y="4736756"/>
            <a:ext cx="1918789" cy="267081"/>
          </a:xfrm>
          <a:prstGeom prst="round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45700" rIns="91425" bIns="45700" anchor="ctr" anchorCtr="0">
            <a:noAutofit/>
          </a:bodyPr>
          <a:lstStyle/>
          <a:p>
            <a:pPr algn="ctr">
              <a:buSzPct val="25000"/>
            </a:pPr>
            <a:r>
              <a:rPr lang="en-US" sz="1600" b="1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= 1 + 2 + 3</a:t>
            </a:r>
          </a:p>
        </p:txBody>
      </p:sp>
    </p:spTree>
    <p:extLst>
      <p:ext uri="{BB962C8B-B14F-4D97-AF65-F5344CB8AC3E}">
        <p14:creationId xmlns:p14="http://schemas.microsoft.com/office/powerpoint/2010/main" val="3291580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8696-89D6-B068-3C71-F01C1429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78AEAD-A514-5A7E-A338-FC4ABCEF5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437" y="452147"/>
            <a:ext cx="10779125" cy="77787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56082"/>
                </a:solidFill>
                <a:latin typeface="Aptos Black" panose="020B0004020202020204" pitchFamily="34" charset="0"/>
              </a:rPr>
              <a:t>CASHFLOW EVALUATION</a:t>
            </a:r>
            <a:endParaRPr lang="en-US" sz="200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F9AF3A-2772-0297-40F2-B76AC932F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25" y="841084"/>
            <a:ext cx="8933739" cy="582956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CB3C37-67A4-33D9-9272-3D1D886AA64B}"/>
              </a:ext>
            </a:extLst>
          </p:cNvPr>
          <p:cNvSpPr/>
          <p:nvPr/>
        </p:nvSpPr>
        <p:spPr>
          <a:xfrm>
            <a:off x="2612570" y="4753429"/>
            <a:ext cx="1045029" cy="703942"/>
          </a:xfrm>
          <a:prstGeom prst="roundRect">
            <a:avLst>
              <a:gd name="adj" fmla="val 945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99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009E75C-FBA9-C4CF-4D01-3B174E1398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48DB82-67B9-5302-DCF4-DEBAD6A1D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b="1">
              <a:latin typeface="+mj-lt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94F68A8-F274-6075-284C-406BE83E15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65370-8F81-A474-CF92-F4873578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CB707-B201-F8BA-5EB5-05531CF9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train on the road&#10;&#10;AI-generated content may be incorrect.">
            <a:extLst>
              <a:ext uri="{FF2B5EF4-FFF2-40B4-BE49-F238E27FC236}">
                <a16:creationId xmlns:a16="http://schemas.microsoft.com/office/drawing/2014/main" id="{383B51E8-4238-6B93-7CCA-1D59651FA93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37670" y="-159385"/>
            <a:ext cx="12429669" cy="6991041"/>
          </a:xfrm>
        </p:spPr>
      </p:pic>
      <p:sp>
        <p:nvSpPr>
          <p:cNvPr id="9" name="Freeform 4">
            <a:extLst>
              <a:ext uri="{FF2B5EF4-FFF2-40B4-BE49-F238E27FC236}">
                <a16:creationId xmlns:a16="http://schemas.microsoft.com/office/drawing/2014/main" id="{1CD576E7-2030-8651-5E88-6BD2BB952AEE}"/>
              </a:ext>
            </a:extLst>
          </p:cNvPr>
          <p:cNvSpPr/>
          <p:nvPr/>
        </p:nvSpPr>
        <p:spPr>
          <a:xfrm rot="10800000" flipH="1">
            <a:off x="-237671" y="-159385"/>
            <a:ext cx="10663277" cy="7269480"/>
          </a:xfrm>
          <a:custGeom>
            <a:avLst/>
            <a:gdLst/>
            <a:ahLst/>
            <a:cxnLst/>
            <a:rect l="l" t="t" r="r" b="b"/>
            <a:pathLst>
              <a:path w="4674333" h="2934451">
                <a:moveTo>
                  <a:pt x="0" y="0"/>
                </a:moveTo>
                <a:lnTo>
                  <a:pt x="4674333" y="0"/>
                </a:lnTo>
                <a:lnTo>
                  <a:pt x="4674333" y="2934451"/>
                </a:lnTo>
                <a:lnTo>
                  <a:pt x="0" y="2934451"/>
                </a:lnTo>
                <a:close/>
              </a:path>
            </a:pathLst>
          </a:custGeom>
          <a:gradFill rotWithShape="1">
            <a:gsLst>
              <a:gs pos="25000">
                <a:srgbClr val="FFFFFF"/>
              </a:gs>
              <a:gs pos="0">
                <a:schemeClr val="bg1"/>
              </a:gs>
              <a:gs pos="50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AD2B2-8878-2288-BF17-046B409A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12</a:t>
            </a:fld>
            <a:endParaRPr lang="en-US"/>
          </a:p>
        </p:txBody>
      </p:sp>
      <p:pic>
        <p:nvPicPr>
          <p:cNvPr id="41" name="Picture 40" descr="D:\NEKODESIGN\CUSTOMERS\AQUUS\MASAN\Pics\Logo_Masan.pngLogo_Masan">
            <a:extLst>
              <a:ext uri="{FF2B5EF4-FFF2-40B4-BE49-F238E27FC236}">
                <a16:creationId xmlns:a16="http://schemas.microsoft.com/office/drawing/2014/main" id="{B45656F4-B090-7707-CBD9-715AB27E3FA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169368" y="288075"/>
            <a:ext cx="1389205" cy="486952"/>
          </a:xfrm>
          <a:prstGeom prst="rect">
            <a:avLst/>
          </a:prstGeom>
        </p:spPr>
      </p:pic>
      <p:sp>
        <p:nvSpPr>
          <p:cNvPr id="23" name="Title 4">
            <a:extLst>
              <a:ext uri="{FF2B5EF4-FFF2-40B4-BE49-F238E27FC236}">
                <a16:creationId xmlns:a16="http://schemas.microsoft.com/office/drawing/2014/main" id="{05AEB39D-34CB-6D40-0764-CBCB67272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37672" y="2769105"/>
            <a:ext cx="12429668" cy="1057364"/>
          </a:xfr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45000"/>
                  <a:lumOff val="55000"/>
                  <a:alpha val="2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100000" scaled="1"/>
            <a:tileRect/>
          </a:gradFill>
        </p:spPr>
        <p:txBody>
          <a:bodyPr>
            <a:noAutofit/>
          </a:bodyPr>
          <a:lstStyle/>
          <a:p>
            <a:pPr marL="403225" indent="-57150">
              <a:tabLst>
                <a:tab pos="60325" algn="l"/>
              </a:tabLst>
            </a:pPr>
            <a:r>
              <a:rPr lang="en-US" sz="7200" b="1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APPENDIX</a:t>
            </a:r>
            <a:endParaRPr lang="en-US" sz="7200" b="1" dirty="0">
              <a:solidFill>
                <a:srgbClr val="FF0000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2AFD164D-4442-34C8-426F-9EFB3E9628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394" y="88163"/>
            <a:ext cx="1893570" cy="87632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684C67-EA60-B16A-9BAA-AF4B366F6A09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96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8696-89D6-B068-3C71-F01C1429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78AEAD-A514-5A7E-A338-FC4ABCEF5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437" y="452147"/>
            <a:ext cx="10779125" cy="77787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156082"/>
                </a:solidFill>
                <a:latin typeface="Aptos Black" panose="020B0004020202020204" pitchFamily="34" charset="0"/>
              </a:rPr>
              <a:t>TIMELINE TRIỂN KHAI DỰ ÁN</a:t>
            </a:r>
            <a:endParaRPr lang="en-US" sz="2000" dirty="0">
              <a:solidFill>
                <a:srgbClr val="FF0000"/>
              </a:solidFill>
              <a:latin typeface="Aptos Black" panose="020B0004020202020204" pitchFamily="34" charset="0"/>
            </a:endParaRPr>
          </a:p>
        </p:txBody>
      </p:sp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F299F568-5D97-041E-D767-558D52B4C4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380" y="3319717"/>
            <a:ext cx="11617008" cy="4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5;p13" descr="image.png">
            <a:extLst>
              <a:ext uri="{FF2B5EF4-FFF2-40B4-BE49-F238E27FC236}">
                <a16:creationId xmlns:a16="http://schemas.microsoft.com/office/drawing/2014/main" id="{C38B4454-1E5A-C131-7DF4-B2991DF808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505" y="1487197"/>
            <a:ext cx="2667000" cy="1470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86;p13" descr="image.png">
            <a:extLst>
              <a:ext uri="{FF2B5EF4-FFF2-40B4-BE49-F238E27FC236}">
                <a16:creationId xmlns:a16="http://schemas.microsoft.com/office/drawing/2014/main" id="{8D8D2484-5E3A-4D92-CEE7-A88D37E855B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16785" y="4119817"/>
            <a:ext cx="2667000" cy="165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7;p13" descr="image.png">
            <a:extLst>
              <a:ext uri="{FF2B5EF4-FFF2-40B4-BE49-F238E27FC236}">
                <a16:creationId xmlns:a16="http://schemas.microsoft.com/office/drawing/2014/main" id="{431D8162-7AA5-2423-3077-01DF5BD32CA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40505" y="1487197"/>
            <a:ext cx="2667000" cy="1470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8;p13" descr="image.png">
            <a:extLst>
              <a:ext uri="{FF2B5EF4-FFF2-40B4-BE49-F238E27FC236}">
                <a16:creationId xmlns:a16="http://schemas.microsoft.com/office/drawing/2014/main" id="{D047C969-2F23-72A7-4C52-820D075D0D0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84546" y="4119817"/>
            <a:ext cx="2667000" cy="165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9;p13" descr="image.png">
            <a:extLst>
              <a:ext uri="{FF2B5EF4-FFF2-40B4-BE49-F238E27FC236}">
                <a16:creationId xmlns:a16="http://schemas.microsoft.com/office/drawing/2014/main" id="{B7794ACA-10F2-6629-4EC0-ED31691D78F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6380" y="3761589"/>
            <a:ext cx="1066800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0;p13">
            <a:extLst>
              <a:ext uri="{FF2B5EF4-FFF2-40B4-BE49-F238E27FC236}">
                <a16:creationId xmlns:a16="http://schemas.microsoft.com/office/drawing/2014/main" id="{21EDA5EA-6F56-0767-EB7B-CC4CC68EA342}"/>
              </a:ext>
            </a:extLst>
          </p:cNvPr>
          <p:cNvSpPr txBox="1"/>
          <p:nvPr/>
        </p:nvSpPr>
        <p:spPr>
          <a:xfrm>
            <a:off x="513080" y="1611691"/>
            <a:ext cx="26098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Plus Jakarta Sans"/>
              </a:rPr>
              <a:t>Phê duyệt</a:t>
            </a:r>
            <a:endParaRPr sz="1100">
              <a:latin typeface="Inter" panose="020B0604020202020204" charset="0"/>
              <a:ea typeface="Inter" panose="020B0604020202020204" charset="0"/>
              <a:cs typeface="Calibri" panose="020F0502020204030204" pitchFamily="34" charset="0"/>
            </a:endParaRPr>
          </a:p>
        </p:txBody>
      </p:sp>
      <p:sp>
        <p:nvSpPr>
          <p:cNvPr id="14" name="Google Shape;95;p13">
            <a:extLst>
              <a:ext uri="{FF2B5EF4-FFF2-40B4-BE49-F238E27FC236}">
                <a16:creationId xmlns:a16="http://schemas.microsoft.com/office/drawing/2014/main" id="{D3A78FB9-2740-7698-A5F8-E412E28A4688}"/>
              </a:ext>
            </a:extLst>
          </p:cNvPr>
          <p:cNvSpPr/>
          <p:nvPr/>
        </p:nvSpPr>
        <p:spPr>
          <a:xfrm>
            <a:off x="1703705" y="322446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96;p13">
            <a:extLst>
              <a:ext uri="{FF2B5EF4-FFF2-40B4-BE49-F238E27FC236}">
                <a16:creationId xmlns:a16="http://schemas.microsoft.com/office/drawing/2014/main" id="{547DCFBA-3F1A-DB1C-93D1-A506A0B5E11C}"/>
              </a:ext>
            </a:extLst>
          </p:cNvPr>
          <p:cNvSpPr/>
          <p:nvPr/>
        </p:nvSpPr>
        <p:spPr>
          <a:xfrm>
            <a:off x="3835985" y="322446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97;p13">
            <a:extLst>
              <a:ext uri="{FF2B5EF4-FFF2-40B4-BE49-F238E27FC236}">
                <a16:creationId xmlns:a16="http://schemas.microsoft.com/office/drawing/2014/main" id="{920FF404-EC76-CD51-13C5-DDAB79363EEF}"/>
              </a:ext>
            </a:extLst>
          </p:cNvPr>
          <p:cNvSpPr/>
          <p:nvPr/>
        </p:nvSpPr>
        <p:spPr>
          <a:xfrm>
            <a:off x="6059705" y="322446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98;p13">
            <a:extLst>
              <a:ext uri="{FF2B5EF4-FFF2-40B4-BE49-F238E27FC236}">
                <a16:creationId xmlns:a16="http://schemas.microsoft.com/office/drawing/2014/main" id="{62471B1C-4938-10F3-CD89-4EA9FFE33D4E}"/>
              </a:ext>
            </a:extLst>
          </p:cNvPr>
          <p:cNvSpPr/>
          <p:nvPr/>
        </p:nvSpPr>
        <p:spPr>
          <a:xfrm>
            <a:off x="8303746" y="322446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99;p13">
            <a:extLst>
              <a:ext uri="{FF2B5EF4-FFF2-40B4-BE49-F238E27FC236}">
                <a16:creationId xmlns:a16="http://schemas.microsoft.com/office/drawing/2014/main" id="{8834DB72-8234-1DAE-75F6-D01309F265F8}"/>
              </a:ext>
            </a:extLst>
          </p:cNvPr>
          <p:cNvSpPr txBox="1"/>
          <p:nvPr/>
        </p:nvSpPr>
        <p:spPr>
          <a:xfrm>
            <a:off x="484505" y="1087147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06.2026</a:t>
            </a:r>
            <a:endParaRPr/>
          </a:p>
        </p:txBody>
      </p:sp>
      <p:sp>
        <p:nvSpPr>
          <p:cNvPr id="19" name="Google Shape;100;p13">
            <a:extLst>
              <a:ext uri="{FF2B5EF4-FFF2-40B4-BE49-F238E27FC236}">
                <a16:creationId xmlns:a16="http://schemas.microsoft.com/office/drawing/2014/main" id="{7B766BF3-935E-DDEF-F379-9BC14C1DCCE6}"/>
              </a:ext>
            </a:extLst>
          </p:cNvPr>
          <p:cNvSpPr txBox="1"/>
          <p:nvPr/>
        </p:nvSpPr>
        <p:spPr>
          <a:xfrm>
            <a:off x="2616785" y="3719768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07.2026 - 08.2026</a:t>
            </a:r>
            <a:endParaRPr/>
          </a:p>
        </p:txBody>
      </p:sp>
      <p:sp>
        <p:nvSpPr>
          <p:cNvPr id="20" name="Google Shape;101;p13">
            <a:extLst>
              <a:ext uri="{FF2B5EF4-FFF2-40B4-BE49-F238E27FC236}">
                <a16:creationId xmlns:a16="http://schemas.microsoft.com/office/drawing/2014/main" id="{803E6403-5C94-87CA-CD41-4B6D18A33E75}"/>
              </a:ext>
            </a:extLst>
          </p:cNvPr>
          <p:cNvSpPr txBox="1"/>
          <p:nvPr/>
        </p:nvSpPr>
        <p:spPr>
          <a:xfrm>
            <a:off x="4840505" y="1087147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09.2026</a:t>
            </a:r>
            <a:endParaRPr/>
          </a:p>
        </p:txBody>
      </p:sp>
      <p:sp>
        <p:nvSpPr>
          <p:cNvPr id="21" name="Google Shape;102;p13">
            <a:extLst>
              <a:ext uri="{FF2B5EF4-FFF2-40B4-BE49-F238E27FC236}">
                <a16:creationId xmlns:a16="http://schemas.microsoft.com/office/drawing/2014/main" id="{10538230-4449-ACF0-4EE7-44015D390C2B}"/>
              </a:ext>
            </a:extLst>
          </p:cNvPr>
          <p:cNvSpPr txBox="1"/>
          <p:nvPr/>
        </p:nvSpPr>
        <p:spPr>
          <a:xfrm>
            <a:off x="7084546" y="3719768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r>
              <a:rPr lang="en-US" sz="1800" b="1" i="0" u="none" strike="noStrike" cap="non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.2026 - </a:t>
            </a:r>
            <a:r>
              <a:rPr lang="en-US" b="1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r>
              <a:rPr lang="en-US" sz="1800" b="1" i="0" u="none" strike="noStrike" cap="non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.2027</a:t>
            </a:r>
            <a:endParaRPr/>
          </a:p>
        </p:txBody>
      </p:sp>
      <p:sp>
        <p:nvSpPr>
          <p:cNvPr id="23" name="Google Shape;104;p13">
            <a:extLst>
              <a:ext uri="{FF2B5EF4-FFF2-40B4-BE49-F238E27FC236}">
                <a16:creationId xmlns:a16="http://schemas.microsoft.com/office/drawing/2014/main" id="{576FE59F-0CA5-EA59-D3EF-25DC3C047FEB}"/>
              </a:ext>
            </a:extLst>
          </p:cNvPr>
          <p:cNvSpPr txBox="1"/>
          <p:nvPr/>
        </p:nvSpPr>
        <p:spPr>
          <a:xfrm>
            <a:off x="698817" y="2030621"/>
            <a:ext cx="2293888" cy="72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Calibri" panose="020F0502020204030204" pitchFamily="34" charset="0"/>
                <a:sym typeface="Inter"/>
              </a:rPr>
              <a:t>Trình bày và xin chấp thuận xây dựng Network Design các DC từ Nhà máy đến Người tiêu dùng.</a:t>
            </a:r>
            <a:endParaRPr/>
          </a:p>
        </p:txBody>
      </p:sp>
      <p:sp>
        <p:nvSpPr>
          <p:cNvPr id="25" name="Google Shape;106;p13">
            <a:extLst>
              <a:ext uri="{FF2B5EF4-FFF2-40B4-BE49-F238E27FC236}">
                <a16:creationId xmlns:a16="http://schemas.microsoft.com/office/drawing/2014/main" id="{4B0E5FB0-1462-5E66-216E-2044A1DD2778}"/>
              </a:ext>
            </a:extLst>
          </p:cNvPr>
          <p:cNvSpPr txBox="1"/>
          <p:nvPr/>
        </p:nvSpPr>
        <p:spPr>
          <a:xfrm>
            <a:off x="2831097" y="4738432"/>
            <a:ext cx="2238375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Xây dựng và làm việc với NCC về Phương án Pilot và Tự động hoá đáp ứng Hiệu quả Tài chính, Vận hành, Phục vụ Người Tiêu dùng</a:t>
            </a:r>
            <a:endParaRPr/>
          </a:p>
        </p:txBody>
      </p:sp>
      <p:sp>
        <p:nvSpPr>
          <p:cNvPr id="30" name="Google Shape;90;p13">
            <a:extLst>
              <a:ext uri="{FF2B5EF4-FFF2-40B4-BE49-F238E27FC236}">
                <a16:creationId xmlns:a16="http://schemas.microsoft.com/office/drawing/2014/main" id="{FB563DED-AD35-080C-AC78-008251AE9D5E}"/>
              </a:ext>
            </a:extLst>
          </p:cNvPr>
          <p:cNvSpPr txBox="1"/>
          <p:nvPr/>
        </p:nvSpPr>
        <p:spPr>
          <a:xfrm>
            <a:off x="2888598" y="4170717"/>
            <a:ext cx="223837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Plus Jakarta Sans"/>
              </a:rPr>
              <a:t>Xây dựng phương án &amp; tìm kiếm NCC</a:t>
            </a:r>
            <a:endParaRPr sz="1100">
              <a:latin typeface="Inter" panose="020B0604020202020204" charset="0"/>
              <a:ea typeface="Inter" panose="020B0604020202020204" charset="0"/>
              <a:cs typeface="Calibri" panose="020F0502020204030204" pitchFamily="34" charset="0"/>
            </a:endParaRPr>
          </a:p>
        </p:txBody>
      </p:sp>
      <p:sp>
        <p:nvSpPr>
          <p:cNvPr id="31" name="Google Shape;90;p13">
            <a:extLst>
              <a:ext uri="{FF2B5EF4-FFF2-40B4-BE49-F238E27FC236}">
                <a16:creationId xmlns:a16="http://schemas.microsoft.com/office/drawing/2014/main" id="{3727D4B5-AEB4-C7AC-35D7-AD70A2F93CE4}"/>
              </a:ext>
            </a:extLst>
          </p:cNvPr>
          <p:cNvSpPr txBox="1"/>
          <p:nvPr/>
        </p:nvSpPr>
        <p:spPr>
          <a:xfrm>
            <a:off x="5126973" y="1611691"/>
            <a:ext cx="2068847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Plus Jakarta Sans"/>
              </a:rPr>
              <a:t>Trình duyệt phương án</a:t>
            </a:r>
            <a:endParaRPr sz="1100">
              <a:latin typeface="Inter" panose="020B0604020202020204" charset="0"/>
              <a:ea typeface="Inter" panose="020B0604020202020204" charset="0"/>
              <a:cs typeface="Calibri" panose="020F0502020204030204" pitchFamily="34" charset="0"/>
            </a:endParaRPr>
          </a:p>
        </p:txBody>
      </p:sp>
      <p:sp>
        <p:nvSpPr>
          <p:cNvPr id="32" name="Google Shape;104;p13">
            <a:extLst>
              <a:ext uri="{FF2B5EF4-FFF2-40B4-BE49-F238E27FC236}">
                <a16:creationId xmlns:a16="http://schemas.microsoft.com/office/drawing/2014/main" id="{68AB1B80-278B-1295-A87C-05621054A469}"/>
              </a:ext>
            </a:extLst>
          </p:cNvPr>
          <p:cNvSpPr txBox="1"/>
          <p:nvPr/>
        </p:nvSpPr>
        <p:spPr>
          <a:xfrm>
            <a:off x="5126973" y="2275382"/>
            <a:ext cx="229388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Calibri" panose="020F0502020204030204" pitchFamily="34" charset="0"/>
                <a:sym typeface="Inter"/>
              </a:rPr>
              <a:t>Trình duyệt c</a:t>
            </a:r>
            <a:r>
              <a:rPr lang="en-US" sz="1050">
                <a:solidFill>
                  <a:srgbClr val="CBD5E1"/>
                </a:solidFill>
                <a:latin typeface="Inter"/>
                <a:ea typeface="Inter"/>
                <a:cs typeface="Calibri" panose="020F0502020204030204" pitchFamily="34" charset="0"/>
                <a:sym typeface="Inter"/>
              </a:rPr>
              <a:t>á</a:t>
            </a: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Calibri" panose="020F0502020204030204" pitchFamily="34" charset="0"/>
                <a:sym typeface="Inter"/>
              </a:rPr>
              <a:t>c phương án sau khi làm việc với nhà cung cấp</a:t>
            </a:r>
            <a:endParaRPr/>
          </a:p>
        </p:txBody>
      </p:sp>
      <p:sp>
        <p:nvSpPr>
          <p:cNvPr id="33" name="Google Shape;106;p13">
            <a:extLst>
              <a:ext uri="{FF2B5EF4-FFF2-40B4-BE49-F238E27FC236}">
                <a16:creationId xmlns:a16="http://schemas.microsoft.com/office/drawing/2014/main" id="{BDFCB541-6587-0CB3-41CF-C0B3EC5D5ECB}"/>
              </a:ext>
            </a:extLst>
          </p:cNvPr>
          <p:cNvSpPr txBox="1"/>
          <p:nvPr/>
        </p:nvSpPr>
        <p:spPr>
          <a:xfrm>
            <a:off x="7298858" y="4817546"/>
            <a:ext cx="223837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Xây </a:t>
            </a:r>
            <a:r>
              <a:rPr lang="vi-VN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dựng (BTS), Nghiệm thu và Đưa vào sử dụng</a:t>
            </a:r>
            <a:endParaRPr/>
          </a:p>
        </p:txBody>
      </p:sp>
      <p:sp>
        <p:nvSpPr>
          <p:cNvPr id="34" name="Google Shape;90;p13">
            <a:extLst>
              <a:ext uri="{FF2B5EF4-FFF2-40B4-BE49-F238E27FC236}">
                <a16:creationId xmlns:a16="http://schemas.microsoft.com/office/drawing/2014/main" id="{AE3712F3-9C97-6695-1C4D-785E30339200}"/>
              </a:ext>
            </a:extLst>
          </p:cNvPr>
          <p:cNvSpPr txBox="1"/>
          <p:nvPr/>
        </p:nvSpPr>
        <p:spPr>
          <a:xfrm>
            <a:off x="7420861" y="4181787"/>
            <a:ext cx="1965594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Plus Jakarta Sans"/>
              </a:rPr>
              <a:t>Xây dựng &amp; nghiệm thu</a:t>
            </a:r>
            <a:endParaRPr sz="1100">
              <a:latin typeface="Inter" panose="020B0604020202020204" charset="0"/>
              <a:ea typeface="Inter" panose="020B0604020202020204" charset="0"/>
              <a:cs typeface="Calibri" panose="020F0502020204030204" pitchFamily="34" charset="0"/>
            </a:endParaRPr>
          </a:p>
        </p:txBody>
      </p:sp>
      <p:sp>
        <p:nvSpPr>
          <p:cNvPr id="35" name="Google Shape;97;p13">
            <a:extLst>
              <a:ext uri="{FF2B5EF4-FFF2-40B4-BE49-F238E27FC236}">
                <a16:creationId xmlns:a16="http://schemas.microsoft.com/office/drawing/2014/main" id="{034F0EA4-8F1C-B554-7905-DDF9AA48B528}"/>
              </a:ext>
            </a:extLst>
          </p:cNvPr>
          <p:cNvSpPr/>
          <p:nvPr/>
        </p:nvSpPr>
        <p:spPr>
          <a:xfrm>
            <a:off x="10433487" y="32004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87;p13" descr="image.png">
            <a:extLst>
              <a:ext uri="{FF2B5EF4-FFF2-40B4-BE49-F238E27FC236}">
                <a16:creationId xmlns:a16="http://schemas.microsoft.com/office/drawing/2014/main" id="{CA677B09-19A0-8F91-3706-74CF4C0DA3E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99987" y="1515773"/>
            <a:ext cx="2667000" cy="147057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101;p13">
            <a:extLst>
              <a:ext uri="{FF2B5EF4-FFF2-40B4-BE49-F238E27FC236}">
                <a16:creationId xmlns:a16="http://schemas.microsoft.com/office/drawing/2014/main" id="{623022E4-F5C1-4DC3-C355-79EA026E4A9F}"/>
              </a:ext>
            </a:extLst>
          </p:cNvPr>
          <p:cNvSpPr txBox="1"/>
          <p:nvPr/>
        </p:nvSpPr>
        <p:spPr>
          <a:xfrm>
            <a:off x="9099987" y="1115723"/>
            <a:ext cx="2667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2027 Onward</a:t>
            </a:r>
            <a:endParaRPr/>
          </a:p>
        </p:txBody>
      </p:sp>
      <p:sp>
        <p:nvSpPr>
          <p:cNvPr id="38" name="Google Shape;90;p13">
            <a:extLst>
              <a:ext uri="{FF2B5EF4-FFF2-40B4-BE49-F238E27FC236}">
                <a16:creationId xmlns:a16="http://schemas.microsoft.com/office/drawing/2014/main" id="{B86C3410-D3B9-8C35-E033-35EEAA45589F}"/>
              </a:ext>
            </a:extLst>
          </p:cNvPr>
          <p:cNvSpPr txBox="1"/>
          <p:nvPr/>
        </p:nvSpPr>
        <p:spPr>
          <a:xfrm>
            <a:off x="9386455" y="1611691"/>
            <a:ext cx="20688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Inter" panose="020B0604020202020204" charset="0"/>
                <a:ea typeface="Inter" panose="020B0604020202020204" charset="0"/>
                <a:cs typeface="Calibri" panose="020F0502020204030204" pitchFamily="34" charset="0"/>
                <a:sym typeface="Plus Jakarta Sans"/>
              </a:rPr>
              <a:t>Roll Out</a:t>
            </a:r>
            <a:endParaRPr sz="1100">
              <a:latin typeface="Inter" panose="020B0604020202020204" charset="0"/>
              <a:ea typeface="Inter" panose="020B0604020202020204" charset="0"/>
              <a:cs typeface="Calibri" panose="020F0502020204030204" pitchFamily="34" charset="0"/>
            </a:endParaRPr>
          </a:p>
        </p:txBody>
      </p:sp>
      <p:sp>
        <p:nvSpPr>
          <p:cNvPr id="39" name="Google Shape;104;p13">
            <a:extLst>
              <a:ext uri="{FF2B5EF4-FFF2-40B4-BE49-F238E27FC236}">
                <a16:creationId xmlns:a16="http://schemas.microsoft.com/office/drawing/2014/main" id="{598A5521-4EE4-B0A3-D0D1-C1120874B10A}"/>
              </a:ext>
            </a:extLst>
          </p:cNvPr>
          <p:cNvSpPr txBox="1"/>
          <p:nvPr/>
        </p:nvSpPr>
        <p:spPr>
          <a:xfrm>
            <a:off x="9286543" y="2021246"/>
            <a:ext cx="2293888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BD5E1"/>
                </a:solidFill>
                <a:latin typeface="Inter"/>
                <a:ea typeface="Inter"/>
                <a:cs typeface="Calibri" panose="020F0502020204030204" pitchFamily="34" charset="0"/>
                <a:sym typeface="Inter"/>
              </a:rPr>
              <a:t>Đánh giá hiệu quả pilot và roll out trên toàn quốc</a:t>
            </a:r>
            <a:endParaRPr/>
          </a:p>
        </p:txBody>
      </p:sp>
      <p:pic>
        <p:nvPicPr>
          <p:cNvPr id="40" name="Google Shape;84;p13" descr="image.png">
            <a:extLst>
              <a:ext uri="{FF2B5EF4-FFF2-40B4-BE49-F238E27FC236}">
                <a16:creationId xmlns:a16="http://schemas.microsoft.com/office/drawing/2014/main" id="{374FF43F-7938-3E68-8828-D22C9D129D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2229893">
            <a:off x="11744582" y="3288580"/>
            <a:ext cx="116864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84;p13" descr="image.png">
            <a:extLst>
              <a:ext uri="{FF2B5EF4-FFF2-40B4-BE49-F238E27FC236}">
                <a16:creationId xmlns:a16="http://schemas.microsoft.com/office/drawing/2014/main" id="{279A7455-ED70-2B2C-BFF6-F7FE6B1147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8541981">
            <a:off x="11750402" y="3351626"/>
            <a:ext cx="116864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5548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1060475-7e7f-4ede-8d8d-bf61f53ca528}" enabled="0" method="" siteId="{81060475-7e7f-4ede-8d8d-bf61f53ca52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17515</TotalTime>
  <Words>1293</Words>
  <Application>Microsoft Office PowerPoint</Application>
  <PresentationFormat>Widescreen</PresentationFormat>
  <Paragraphs>140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30" baseType="lpstr">
      <vt:lpstr>Calibri (Body)</vt:lpstr>
      <vt:lpstr>Goldman</vt:lpstr>
      <vt:lpstr>Inter</vt:lpstr>
      <vt:lpstr>Plus Jakarta Sans</vt:lpstr>
      <vt:lpstr>Aptos</vt:lpstr>
      <vt:lpstr>Aptos Black</vt:lpstr>
      <vt:lpstr>Aptos Display</vt:lpstr>
      <vt:lpstr>Arial</vt:lpstr>
      <vt:lpstr>Calibri</vt:lpstr>
      <vt:lpstr>Calibri Light</vt:lpstr>
      <vt:lpstr>Montserrat</vt:lpstr>
      <vt:lpstr>Montserrat ExtraBold</vt:lpstr>
      <vt:lpstr>Montserrat Medium</vt:lpstr>
      <vt:lpstr>Montserrat SemiBold</vt:lpstr>
      <vt:lpstr>Wingdings</vt:lpstr>
      <vt:lpstr>Office Theme</vt:lpstr>
      <vt:lpstr>1_Office Theme</vt:lpstr>
      <vt:lpstr>Network Design MCH, WCM, MML &amp; PLH Network</vt:lpstr>
      <vt:lpstr>TIÊU CHÍ THÀNH CÔNG CHO NETWORK DESIGN :</vt:lpstr>
      <vt:lpstr>KEY INPUT</vt:lpstr>
      <vt:lpstr>MSN 5 YEARS FORECAST (2026 – 2030)</vt:lpstr>
      <vt:lpstr>MSN – STORAGE SPACE 2030</vt:lpstr>
      <vt:lpstr>KẾ HOẠCH XÂY DỰNG National DC  PILOT TẠI BÌNH DƯƠNG</vt:lpstr>
      <vt:lpstr>LAYOUT DỰ KIẾN</vt:lpstr>
      <vt:lpstr>CÁC GIẢ ĐỊNH TÍNH TOÁN HIỆU QUẢ</vt:lpstr>
      <vt:lpstr>CAPACITY</vt:lpstr>
      <vt:lpstr>CASHFLOW EVALUATION</vt:lpstr>
      <vt:lpstr>THANK YOU!</vt:lpstr>
      <vt:lpstr>APPENDIX</vt:lpstr>
      <vt:lpstr>TIMELINE TRIỂN KHAI DỰ ÁN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Thành Phát (The Supra-TCKT-MN)</dc:creator>
  <cp:lastModifiedBy>Thanh Phat</cp:lastModifiedBy>
  <cp:revision>254</cp:revision>
  <dcterms:created xsi:type="dcterms:W3CDTF">2024-11-20T08:16:40Z</dcterms:created>
  <dcterms:modified xsi:type="dcterms:W3CDTF">2026-05-22T02:55:11Z</dcterms:modified>
</cp:coreProperties>
</file>